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03920" y="-1097280"/>
            <a:ext cx="4572000" cy="4572000"/>
          </a:xfrm>
          <a:prstGeom prst="ellipse">
            <a:avLst/>
          </a:prstGeom>
          <a:solidFill>
            <a:srgbClr val="16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3291840"/>
            <a:ext cx="3657600" cy="3657600"/>
          </a:xfrm>
          <a:prstGeom prst="ellipse">
            <a:avLst/>
          </a:prstGeom>
          <a:solidFill>
            <a:srgbClr val="13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960120"/>
            <a:ext cx="146304" cy="1371600"/>
          </a:xfrm>
          <a:prstGeom prst="rect">
            <a:avLst/>
          </a:prstGeom>
          <a:solidFill>
            <a:srgbClr val="2F5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914400"/>
            <a:ext cx="91440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C97B8"/>
                </a:solidFill>
                <a:latin typeface="맑은 고딕"/>
              </a:rPr>
              <a:t>ARCHITECTURE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417320"/>
            <a:ext cx="1005840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맑은 고딕"/>
              </a:rPr>
              <a:t>ci-cd-sample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C9D6EE"/>
                </a:solidFill>
                <a:latin typeface="맑은 고딕"/>
              </a:rPr>
              <a:t>안드로이드 3계층 + CI/CD 레퍼런스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611880"/>
            <a:ext cx="3291840" cy="1417320"/>
          </a:xfrm>
          <a:prstGeom prst="rect">
            <a:avLst/>
          </a:prstGeom>
          <a:solidFill>
            <a:srgbClr val="172A4E"/>
          </a:solidFill>
          <a:ln w="19050">
            <a:solidFill>
              <a:srgbClr val="2F5BEA"/>
            </a:solidFill>
          </a:ln>
          <a:effectLst/>
          <a:effectLst>
            <a:outerShdw blurRad="60000" dist="25000" dir="5400000" rotWithShape="0">
              <a:srgbClr val="1A23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3611880"/>
            <a:ext cx="3291840" cy="91440"/>
          </a:xfrm>
          <a:prstGeom prst="rect">
            <a:avLst/>
          </a:prstGeom>
          <a:solidFill>
            <a:srgbClr val="2F5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3822191"/>
            <a:ext cx="2834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onsolas"/>
              </a:rPr>
              <a:t>:app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4224528"/>
            <a:ext cx="2834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2F5BEA"/>
                </a:solidFill>
                <a:latin typeface="맑은 고딕"/>
              </a:rPr>
              <a:t>UI 계층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4590288"/>
            <a:ext cx="2834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9FB2D4"/>
                </a:solidFill>
                <a:latin typeface="맑은 고딕"/>
              </a:rPr>
              <a:t>Compose · ViewModel · Hilt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17720" y="3611880"/>
            <a:ext cx="3291840" cy="1417320"/>
          </a:xfrm>
          <a:prstGeom prst="rect">
            <a:avLst/>
          </a:prstGeom>
          <a:solidFill>
            <a:srgbClr val="172A4E"/>
          </a:solidFill>
          <a:ln w="19050">
            <a:solidFill>
              <a:srgbClr val="0C97B8"/>
            </a:solidFill>
          </a:ln>
          <a:effectLst/>
          <a:effectLst>
            <a:outerShdw blurRad="60000" dist="25000" dir="5400000" rotWithShape="0">
              <a:srgbClr val="1A23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17720" y="3611880"/>
            <a:ext cx="3291840" cy="91440"/>
          </a:xfrm>
          <a:prstGeom prst="rect">
            <a:avLst/>
          </a:prstGeom>
          <a:solidFill>
            <a:srgbClr val="0C9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73752" y="3822191"/>
            <a:ext cx="2834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onsolas"/>
              </a:rPr>
              <a:t>:data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73752" y="4224528"/>
            <a:ext cx="2834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49C4E0"/>
                </a:solidFill>
                <a:latin typeface="맑은 고딕"/>
              </a:rPr>
              <a:t>데이터 계층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73752" y="4590288"/>
            <a:ext cx="2834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9FB2D4"/>
                </a:solidFill>
                <a:latin typeface="맑은 고딕"/>
              </a:rPr>
              <a:t>Repository 구현 · DataSource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3611880"/>
            <a:ext cx="3291840" cy="1417320"/>
          </a:xfrm>
          <a:prstGeom prst="rect">
            <a:avLst/>
          </a:prstGeom>
          <a:solidFill>
            <a:srgbClr val="172A4E"/>
          </a:solidFill>
          <a:ln w="19050">
            <a:solidFill>
              <a:srgbClr val="7A5AF8"/>
            </a:solidFill>
          </a:ln>
          <a:effectLst/>
          <a:effectLst>
            <a:outerShdw blurRad="60000" dist="25000" dir="5400000" rotWithShape="0">
              <a:srgbClr val="1A23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3611880"/>
            <a:ext cx="3291840" cy="91440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94192" y="3822191"/>
            <a:ext cx="2834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onsolas"/>
              </a:rPr>
              <a:t>:domain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4224528"/>
            <a:ext cx="2834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7A5AF8"/>
                </a:solidFill>
                <a:latin typeface="맑은 고딕"/>
              </a:rPr>
              <a:t>도메인 계층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4192" y="4590288"/>
            <a:ext cx="2834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9FB2D4"/>
                </a:solidFill>
                <a:latin typeface="맑은 고딕"/>
              </a:rPr>
              <a:t>순수 Kotlin · UseCase 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6236208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677"/>
                </a:solidFill>
                <a:latin typeface="맑은 고딕"/>
              </a:rPr>
              <a:t>2026-07-26 · v0.1.0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F5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118872" cy="530352"/>
          </a:xfrm>
          <a:prstGeom prst="rect">
            <a:avLst/>
          </a:prstGeom>
          <a:solidFill>
            <a:srgbClr val="2F5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"/>
            <a:ext cx="105156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8FA6CF"/>
                </a:solidFill>
                <a:latin typeface="맑은 고딕"/>
              </a:rPr>
              <a:t>SYSTEM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38912"/>
            <a:ext cx="107899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FFFFFF"/>
                </a:solidFill>
                <a:latin typeface="맑은 고딕"/>
              </a:rPr>
              <a:t>01. 시스템 개요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106070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B6677"/>
                </a:solidFill>
                <a:latin typeface="맑은 고딕"/>
              </a:rPr>
              <a:t>할 일 관리 앱을 공식 3계층 + Hilt DI 로 만들고 그 위에 GitHub Actions CI/CD 를 올린 레퍼런스 저장소. 증명하려는 명제는 하나 — 파이프라인의 품질은 워크플로 YAML 이 아니라 앱 구조가 결정한다.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3493008" cy="3977639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6"/>
            </a:solidFill>
          </a:ln>
          <a:effectLst/>
          <a:effectLst>
            <a:outerShdw blurRad="60000" dist="25000" dir="5400000" rotWithShape="0">
              <a:srgbClr val="1A23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148840"/>
            <a:ext cx="3493008" cy="566928"/>
          </a:xfrm>
          <a:prstGeom prst="rect">
            <a:avLst/>
          </a:prstGeom>
          <a:solidFill>
            <a:srgbClr val="2F5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240280"/>
            <a:ext cx="301752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onsolas"/>
              </a:rPr>
              <a:t>:app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16352"/>
            <a:ext cx="30175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A2333"/>
                </a:solidFill>
                <a:latin typeface="맑은 고딕"/>
              </a:rPr>
              <a:t>UI 계층</a:t>
            </a:r>
          </a:p>
        </p:txBody>
      </p:sp>
      <p:sp>
        <p:nvSpPr>
          <p:cNvPr id="12" name="Oval 11"/>
          <p:cNvSpPr/>
          <p:nvPr/>
        </p:nvSpPr>
        <p:spPr>
          <a:xfrm>
            <a:off x="1051560" y="3374136"/>
            <a:ext cx="73152" cy="73152"/>
          </a:xfrm>
          <a:prstGeom prst="ellipse">
            <a:avLst/>
          </a:prstGeom>
          <a:solidFill>
            <a:srgbClr val="2F5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2728" y="3273552"/>
            <a:ext cx="283464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677"/>
                </a:solidFill>
                <a:latin typeface="맑은 고딕"/>
              </a:rPr>
              <a:t>Compose 화면과 상태 조립</a:t>
            </a:r>
          </a:p>
        </p:txBody>
      </p:sp>
      <p:sp>
        <p:nvSpPr>
          <p:cNvPr id="14" name="Oval 13"/>
          <p:cNvSpPr/>
          <p:nvPr/>
        </p:nvSpPr>
        <p:spPr>
          <a:xfrm>
            <a:off x="1051560" y="3877056"/>
            <a:ext cx="73152" cy="73152"/>
          </a:xfrm>
          <a:prstGeom prst="ellipse">
            <a:avLst/>
          </a:prstGeom>
          <a:solidFill>
            <a:srgbClr val="2F5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52728" y="3776472"/>
            <a:ext cx="283464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677"/>
                </a:solidFill>
                <a:latin typeface="맑은 고딕"/>
              </a:rPr>
              <a:t>stateless TaskScreen</a:t>
            </a:r>
          </a:p>
        </p:txBody>
      </p:sp>
      <p:sp>
        <p:nvSpPr>
          <p:cNvPr id="16" name="Oval 15"/>
          <p:cNvSpPr/>
          <p:nvPr/>
        </p:nvSpPr>
        <p:spPr>
          <a:xfrm>
            <a:off x="1051560" y="4379976"/>
            <a:ext cx="73152" cy="73152"/>
          </a:xfrm>
          <a:prstGeom prst="ellipse">
            <a:avLst/>
          </a:prstGeom>
          <a:solidFill>
            <a:srgbClr val="2F5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52728" y="4279392"/>
            <a:ext cx="283464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677"/>
                </a:solidFill>
                <a:latin typeface="맑은 고딕"/>
              </a:rPr>
              <a:t>Hilt 그래프 시작점</a:t>
            </a:r>
          </a:p>
        </p:txBody>
      </p:sp>
      <p:sp>
        <p:nvSpPr>
          <p:cNvPr id="18" name="Oval 17"/>
          <p:cNvSpPr/>
          <p:nvPr/>
        </p:nvSpPr>
        <p:spPr>
          <a:xfrm>
            <a:off x="1051560" y="4882896"/>
            <a:ext cx="73152" cy="73152"/>
          </a:xfrm>
          <a:prstGeom prst="ellipse">
            <a:avLst/>
          </a:prstGeom>
          <a:solidFill>
            <a:srgbClr val="2F5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52728" y="4782312"/>
            <a:ext cx="283464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677"/>
                </a:solidFill>
                <a:latin typeface="맑은 고딕"/>
              </a:rPr>
              <a:t>testTag → resource-id 노출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53127" y="2148840"/>
            <a:ext cx="3493008" cy="3977639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6"/>
            </a:solidFill>
          </a:ln>
          <a:effectLst/>
          <a:effectLst>
            <a:outerShdw blurRad="60000" dist="25000" dir="5400000" rotWithShape="0">
              <a:srgbClr val="1A23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53127" y="2148840"/>
            <a:ext cx="3493008" cy="566928"/>
          </a:xfrm>
          <a:prstGeom prst="rect">
            <a:avLst/>
          </a:prstGeom>
          <a:solidFill>
            <a:srgbClr val="0C9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27447" y="2240280"/>
            <a:ext cx="301752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onsolas"/>
              </a:rPr>
              <a:t>:data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27447" y="2816352"/>
            <a:ext cx="30175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A2333"/>
                </a:solidFill>
                <a:latin typeface="맑은 고딕"/>
              </a:rPr>
              <a:t>데이터 계층</a:t>
            </a:r>
          </a:p>
        </p:txBody>
      </p:sp>
      <p:sp>
        <p:nvSpPr>
          <p:cNvPr id="24" name="Oval 23"/>
          <p:cNvSpPr/>
          <p:nvPr/>
        </p:nvSpPr>
        <p:spPr>
          <a:xfrm>
            <a:off x="4727447" y="3374136"/>
            <a:ext cx="73152" cy="73152"/>
          </a:xfrm>
          <a:prstGeom prst="ellipse">
            <a:avLst/>
          </a:prstGeom>
          <a:solidFill>
            <a:srgbClr val="0C9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28615" y="3273552"/>
            <a:ext cx="283464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677"/>
                </a:solidFill>
                <a:latin typeface="맑은 고딕"/>
              </a:rPr>
              <a:t>TaskRepository 구현</a:t>
            </a:r>
          </a:p>
        </p:txBody>
      </p:sp>
      <p:sp>
        <p:nvSpPr>
          <p:cNvPr id="26" name="Oval 25"/>
          <p:cNvSpPr/>
          <p:nvPr/>
        </p:nvSpPr>
        <p:spPr>
          <a:xfrm>
            <a:off x="4727447" y="3877056"/>
            <a:ext cx="73152" cy="73152"/>
          </a:xfrm>
          <a:prstGeom prst="ellipse">
            <a:avLst/>
          </a:prstGeom>
          <a:solidFill>
            <a:srgbClr val="0C9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28615" y="3776472"/>
            <a:ext cx="283464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677"/>
                </a:solidFill>
                <a:latin typeface="맑은 고딕"/>
              </a:rPr>
              <a:t>InMemory DataSource</a:t>
            </a:r>
          </a:p>
        </p:txBody>
      </p:sp>
      <p:sp>
        <p:nvSpPr>
          <p:cNvPr id="28" name="Oval 27"/>
          <p:cNvSpPr/>
          <p:nvPr/>
        </p:nvSpPr>
        <p:spPr>
          <a:xfrm>
            <a:off x="4727447" y="4379976"/>
            <a:ext cx="73152" cy="73152"/>
          </a:xfrm>
          <a:prstGeom prst="ellipse">
            <a:avLst/>
          </a:prstGeom>
          <a:solidFill>
            <a:srgbClr val="0C9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28615" y="4279392"/>
            <a:ext cx="283464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677"/>
                </a:solidFill>
                <a:latin typeface="맑은 고딕"/>
              </a:rPr>
              <a:t>Mutex 로 쓰기 직렬화</a:t>
            </a:r>
          </a:p>
        </p:txBody>
      </p:sp>
      <p:sp>
        <p:nvSpPr>
          <p:cNvPr id="30" name="Oval 29"/>
          <p:cNvSpPr/>
          <p:nvPr/>
        </p:nvSpPr>
        <p:spPr>
          <a:xfrm>
            <a:off x="4727447" y="4882896"/>
            <a:ext cx="73152" cy="73152"/>
          </a:xfrm>
          <a:prstGeom prst="ellipse">
            <a:avLst/>
          </a:prstGeom>
          <a:solidFill>
            <a:srgbClr val="0C9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28615" y="4782312"/>
            <a:ext cx="283464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677"/>
                </a:solidFill>
                <a:latin typeface="맑은 고딕"/>
              </a:rPr>
              <a:t>@Binds 로 인터페이스 연결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29015" y="2148840"/>
            <a:ext cx="3493008" cy="3977639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6"/>
            </a:solidFill>
          </a:ln>
          <a:effectLst/>
          <a:effectLst>
            <a:outerShdw blurRad="60000" dist="25000" dir="5400000" rotWithShape="0">
              <a:srgbClr val="1A23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29015" y="2148840"/>
            <a:ext cx="3493008" cy="566928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03336" y="2240280"/>
            <a:ext cx="301752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onsolas"/>
              </a:rPr>
              <a:t>:domain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03336" y="2816352"/>
            <a:ext cx="30175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A2333"/>
                </a:solidFill>
                <a:latin typeface="맑은 고딕"/>
              </a:rPr>
              <a:t>도메인 계층</a:t>
            </a:r>
          </a:p>
        </p:txBody>
      </p:sp>
      <p:sp>
        <p:nvSpPr>
          <p:cNvPr id="36" name="Oval 35"/>
          <p:cNvSpPr/>
          <p:nvPr/>
        </p:nvSpPr>
        <p:spPr>
          <a:xfrm>
            <a:off x="8403336" y="3374136"/>
            <a:ext cx="73152" cy="73152"/>
          </a:xfrm>
          <a:prstGeom prst="ellipse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04503" y="3273552"/>
            <a:ext cx="283464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677"/>
                </a:solidFill>
                <a:latin typeface="맑은 고딕"/>
              </a:rPr>
              <a:t>순수 Kotlin(JVM) 모듈</a:t>
            </a:r>
          </a:p>
        </p:txBody>
      </p:sp>
      <p:sp>
        <p:nvSpPr>
          <p:cNvPr id="38" name="Oval 37"/>
          <p:cNvSpPr/>
          <p:nvPr/>
        </p:nvSpPr>
        <p:spPr>
          <a:xfrm>
            <a:off x="8403336" y="3877056"/>
            <a:ext cx="73152" cy="73152"/>
          </a:xfrm>
          <a:prstGeom prst="ellipse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04503" y="3776472"/>
            <a:ext cx="283464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677"/>
                </a:solidFill>
                <a:latin typeface="맑은 고딕"/>
              </a:rPr>
              <a:t>모델 · 저장소 인터페이스</a:t>
            </a:r>
          </a:p>
        </p:txBody>
      </p:sp>
      <p:sp>
        <p:nvSpPr>
          <p:cNvPr id="40" name="Oval 39"/>
          <p:cNvSpPr/>
          <p:nvPr/>
        </p:nvSpPr>
        <p:spPr>
          <a:xfrm>
            <a:off x="8403336" y="4379976"/>
            <a:ext cx="73152" cy="73152"/>
          </a:xfrm>
          <a:prstGeom prst="ellipse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04503" y="4279392"/>
            <a:ext cx="283464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677"/>
                </a:solidFill>
                <a:latin typeface="맑은 고딕"/>
              </a:rPr>
              <a:t>UseCase 6개 (규칙 집중)</a:t>
            </a:r>
          </a:p>
        </p:txBody>
      </p:sp>
      <p:sp>
        <p:nvSpPr>
          <p:cNvPr id="42" name="Oval 41"/>
          <p:cNvSpPr/>
          <p:nvPr/>
        </p:nvSpPr>
        <p:spPr>
          <a:xfrm>
            <a:off x="8403336" y="4882896"/>
            <a:ext cx="73152" cy="73152"/>
          </a:xfrm>
          <a:prstGeom prst="ellipse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04503" y="4782312"/>
            <a:ext cx="283464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677"/>
                </a:solidFill>
                <a:latin typeface="맑은 고딕"/>
              </a:rPr>
              <a:t>Android · DI 무의존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6473952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677"/>
                </a:solidFill>
                <a:latin typeface="맑은 고딕"/>
              </a:rPr>
              <a:t>ci-cd-sample · 아키텍처 분석 보고서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5B6677"/>
                </a:solidFill>
                <a:latin typeface="맑은 고딕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F5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118872" cy="530352"/>
          </a:xfrm>
          <a:prstGeom prst="rect">
            <a:avLst/>
          </a:prstGeom>
          <a:solidFill>
            <a:srgbClr val="2F5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"/>
            <a:ext cx="105156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8FA6CF"/>
                </a:solidFill>
                <a:latin typeface="맑은 고딕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38912"/>
            <a:ext cx="107899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FFFFFF"/>
                </a:solidFill>
                <a:latin typeface="맑은 고딕"/>
              </a:rPr>
              <a:t>02. 전체 아키텍처 — 의존 방향은 한 방향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98448"/>
            <a:ext cx="106070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677"/>
                </a:solidFill>
                <a:latin typeface="맑은 고딕"/>
              </a:rPr>
              <a:t>계층 위반은 리뷰가 아니라 컴파일 에러로 막힌다. :domain 은 아무것도 의존하지 않는다.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1874519"/>
            <a:ext cx="5669280" cy="1143000"/>
          </a:xfrm>
          <a:prstGeom prst="rect">
            <a:avLst/>
          </a:prstGeom>
          <a:solidFill>
            <a:srgbClr val="2F5BEA"/>
          </a:solidFill>
          <a:ln>
            <a:noFill/>
          </a:ln>
          <a:effectLst/>
          <a:effectLst>
            <a:outerShdw blurRad="60000" dist="25000" dir="5400000" rotWithShape="0">
              <a:srgbClr val="1A23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:app  (Android Application)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MainActivity · TaskRoute · TaskScreen · TaskViewModel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" y="3703320"/>
            <a:ext cx="4206240" cy="1325880"/>
          </a:xfrm>
          <a:prstGeom prst="rect">
            <a:avLst/>
          </a:prstGeom>
          <a:solidFill>
            <a:srgbClr val="0C97B8"/>
          </a:solidFill>
          <a:ln>
            <a:noFill/>
          </a:ln>
          <a:effectLst/>
          <a:effectLst>
            <a:outerShdw blurRad="60000" dist="25000" dir="5400000" rotWithShape="0">
              <a:srgbClr val="1A23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</a:rPr>
              <a:t>:data  (Android Library)</a:t>
            </a:r>
          </a:p>
          <a:p>
            <a:pPr algn="ctr"/>
            <a:r>
              <a:rPr sz="1250" b="1">
                <a:solidFill>
                  <a:srgbClr val="FFFFFF"/>
                </a:solidFill>
                <a:latin typeface="맑은 고딕"/>
              </a:rPr>
              <a:t>DefaultTaskRepository</a:t>
            </a:r>
          </a:p>
          <a:p>
            <a:pPr algn="ctr"/>
            <a:r>
              <a:rPr sz="1250" b="1">
                <a:solidFill>
                  <a:srgbClr val="FFFFFF"/>
                </a:solidFill>
                <a:latin typeface="맑은 고딕"/>
              </a:rPr>
              <a:t>InMemoryTaskDataSource · DataModule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03720" y="3703320"/>
            <a:ext cx="4206240" cy="1325880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  <a:effectLst>
            <a:outerShdw blurRad="60000" dist="25000" dir="5400000" rotWithShape="0">
              <a:srgbClr val="1A23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</a:rPr>
              <a:t>:domain  (순수 Kotlin JVM)</a:t>
            </a:r>
          </a:p>
          <a:p>
            <a:pPr algn="ctr"/>
            <a:r>
              <a:rPr sz="1250" b="1">
                <a:solidFill>
                  <a:srgbClr val="FFFFFF"/>
                </a:solidFill>
                <a:latin typeface="맑은 고딕"/>
              </a:rPr>
              <a:t>Task · TaskStats · TaskRepository(interface)</a:t>
            </a:r>
          </a:p>
          <a:p>
            <a:pPr algn="ctr"/>
            <a:r>
              <a:rPr sz="1250" b="1">
                <a:solidFill>
                  <a:srgbClr val="FFFFFF"/>
                </a:solidFill>
                <a:latin typeface="맑은 고딕"/>
              </a:rPr>
              <a:t>UseCase × 6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3154680" y="3017520"/>
            <a:ext cx="1600200" cy="685800"/>
          </a:xfrm>
          <a:prstGeom prst="bentConnector3">
            <a:avLst/>
          </a:prstGeom>
          <a:ln w="25400">
            <a:solidFill>
              <a:srgbClr val="1A2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406640" y="3017520"/>
            <a:ext cx="1600200" cy="685800"/>
          </a:xfrm>
          <a:prstGeom prst="bentConnector3">
            <a:avLst/>
          </a:prstGeom>
          <a:ln w="25400">
            <a:solidFill>
              <a:srgbClr val="1A2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257800" y="4370832"/>
            <a:ext cx="1645920" cy="0"/>
          </a:xfrm>
          <a:prstGeom prst="bentConnector3">
            <a:avLst/>
          </a:prstGeom>
          <a:ln w="25400">
            <a:solidFill>
              <a:srgbClr val="1A2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77240" y="5532120"/>
            <a:ext cx="10607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1A2333"/>
                </a:solidFill>
                <a:latin typeface="맑은 고딕"/>
              </a:rPr>
              <a:t>:domain 의 외부 의존은 coroutines-core 와 javax.inject 뿐 → ./gradlew :domain:test 가 AGP 없이 JVM 에서 0.4초에 끝난다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473952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677"/>
                </a:solidFill>
                <a:latin typeface="맑은 고딕"/>
              </a:rPr>
              <a:t>ci-cd-sample · 아키텍처 분석 보고서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5B6677"/>
                </a:solidFill>
                <a:latin typeface="맑은 고딕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118872" cy="530352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"/>
            <a:ext cx="105156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8FA6CF"/>
                </a:solidFill>
                <a:latin typeface="맑은 고딕"/>
              </a:rPr>
              <a:t>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38912"/>
            <a:ext cx="107899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FFFFFF"/>
                </a:solidFill>
                <a:latin typeface="맑은 고딕"/>
              </a:rPr>
              <a:t>03. 계층별 상세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80160"/>
            <a:ext cx="106070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677"/>
                </a:solidFill>
                <a:latin typeface="맑은 고딕"/>
              </a:rPr>
              <a:t>모듈별 주요 타입과 책임, 그리고 어떤 테스트가 지키는지.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744200" cy="402336"/>
          </a:xfrm>
          <a:prstGeom prst="rect">
            <a:avLst/>
          </a:prstGeom>
          <a:solidFill>
            <a:srgbClr val="1A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847088"/>
            <a:ext cx="105156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모듈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21408" y="1847088"/>
            <a:ext cx="306323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주요 타입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67528" y="1847088"/>
            <a:ext cx="402335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책임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7" y="1847088"/>
            <a:ext cx="187451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테스트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185416"/>
            <a:ext cx="107442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249424"/>
            <a:ext cx="105156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Consolas"/>
              </a:rPr>
              <a:t>domain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21408" y="2249424"/>
            <a:ext cx="3063239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Consolas"/>
              </a:rPr>
              <a:t>Task · Priority · TaskStats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67528" y="2249424"/>
            <a:ext cx="4023359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맑은 고딕"/>
              </a:rPr>
              <a:t>불변 모델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73767" y="2249424"/>
            <a:ext cx="1874519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맑은 고딕"/>
              </a:rPr>
              <a:t>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2587752"/>
            <a:ext cx="10744200" cy="402336"/>
          </a:xfrm>
          <a:prstGeom prst="rect">
            <a:avLst/>
          </a:prstGeom>
          <a:solidFill>
            <a:srgbClr val="EEF2FA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2651760"/>
            <a:ext cx="105156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Consolas"/>
              </a:rPr>
              <a:t>domain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21408" y="2651760"/>
            <a:ext cx="3063239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Consolas"/>
              </a:rPr>
              <a:t>TaskRepository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67528" y="2651760"/>
            <a:ext cx="4023359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맑은 고딕"/>
              </a:rPr>
              <a:t>저장소 계약(인터페이스)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73767" y="2651760"/>
            <a:ext cx="1874519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맑은 고딕"/>
              </a:rPr>
              <a:t>페이크로 대체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990088"/>
            <a:ext cx="107442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3054096"/>
            <a:ext cx="105156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Consolas"/>
              </a:rPr>
              <a:t>domain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21408" y="3054096"/>
            <a:ext cx="3063239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Consolas"/>
              </a:rPr>
              <a:t>UseCase × 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67528" y="3054096"/>
            <a:ext cx="4023359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맑은 고딕"/>
              </a:rPr>
              <a:t>검증 · 정렬 · 집계 규칙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73767" y="3054096"/>
            <a:ext cx="1874519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맑은 고딕"/>
              </a:rPr>
              <a:t>단위 28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3392424"/>
            <a:ext cx="10744200" cy="402336"/>
          </a:xfrm>
          <a:prstGeom prst="rect">
            <a:avLst/>
          </a:prstGeom>
          <a:solidFill>
            <a:srgbClr val="EEF2FA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3456432"/>
            <a:ext cx="105156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Consolas"/>
              </a:rPr>
              <a:t>domain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21408" y="3456432"/>
            <a:ext cx="3063239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Consolas"/>
              </a:rPr>
              <a:t>FakeTaskRepository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67528" y="3456432"/>
            <a:ext cx="4023359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맑은 고딕"/>
              </a:rPr>
              <a:t>testFixtures 로 모듈 간 공유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73767" y="3456432"/>
            <a:ext cx="1874519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맑은 고딕"/>
              </a:rPr>
              <a:t>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" y="3794760"/>
            <a:ext cx="107442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6968" y="3858768"/>
            <a:ext cx="105156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Consolas"/>
              </a:rPr>
              <a:t>data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21408" y="3858768"/>
            <a:ext cx="3063239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Consolas"/>
              </a:rPr>
              <a:t>InMemoryTaskDataSource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67528" y="3858768"/>
            <a:ext cx="4023359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맑은 고딕"/>
              </a:rPr>
              <a:t>id/order 발급, Mutex 직렬화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73767" y="3858768"/>
            <a:ext cx="1874519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맑은 고딕"/>
              </a:rPr>
              <a:t>단위 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" y="4197096"/>
            <a:ext cx="10744200" cy="402336"/>
          </a:xfrm>
          <a:prstGeom prst="rect">
            <a:avLst/>
          </a:prstGeom>
          <a:solidFill>
            <a:srgbClr val="EEF2FA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6968" y="4261104"/>
            <a:ext cx="105156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Consolas"/>
              </a:rPr>
              <a:t>data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21408" y="4261104"/>
            <a:ext cx="3063239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Consolas"/>
              </a:rPr>
              <a:t>DefaultTaskRepository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67528" y="4261104"/>
            <a:ext cx="4023359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맑은 고딕"/>
              </a:rPr>
              <a:t>인터페이스 구현(위임)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73767" y="4261104"/>
            <a:ext cx="1874519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맑은 고딕"/>
              </a:rPr>
              <a:t>단위 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4599432"/>
            <a:ext cx="107442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6968" y="4663440"/>
            <a:ext cx="105156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Consolas"/>
              </a:rPr>
              <a:t>data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21408" y="4663440"/>
            <a:ext cx="3063239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Consolas"/>
              </a:rPr>
              <a:t>DataModule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67528" y="4663440"/>
            <a:ext cx="4023359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맑은 고딕"/>
              </a:rPr>
              <a:t>@Binds 인터페이스↔구현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73767" y="4663440"/>
            <a:ext cx="1874519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맑은 고딕"/>
              </a:rPr>
              <a:t>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7240" y="5001768"/>
            <a:ext cx="10744200" cy="402336"/>
          </a:xfrm>
          <a:prstGeom prst="rect">
            <a:avLst/>
          </a:prstGeom>
          <a:solidFill>
            <a:srgbClr val="EEF2FA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6968" y="5065776"/>
            <a:ext cx="105156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Consolas"/>
              </a:rPr>
              <a:t>app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21408" y="5065776"/>
            <a:ext cx="3063239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Consolas"/>
              </a:rPr>
              <a:t>TaskViewModel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67528" y="5065776"/>
            <a:ext cx="4023359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맑은 고딕"/>
              </a:rPr>
              <a:t>상태 조립, 에러 문구 변환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73767" y="5065776"/>
            <a:ext cx="1874519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맑은 고딕"/>
              </a:rPr>
              <a:t>단위 10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77240" y="5404104"/>
            <a:ext cx="107442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6968" y="5468112"/>
            <a:ext cx="105156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Consolas"/>
              </a:rPr>
              <a:t>app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21408" y="5468112"/>
            <a:ext cx="3063239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Consolas"/>
              </a:rPr>
              <a:t>TaskScreen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67528" y="5468112"/>
            <a:ext cx="4023359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맑은 고딕"/>
              </a:rPr>
              <a:t>stateless 렌더링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73767" y="5468112"/>
            <a:ext cx="1874519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맑은 고딕"/>
              </a:rPr>
              <a:t>Compose UI 8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77240" y="5806440"/>
            <a:ext cx="10744200" cy="402336"/>
          </a:xfrm>
          <a:prstGeom prst="rect">
            <a:avLst/>
          </a:prstGeom>
          <a:solidFill>
            <a:srgbClr val="EEF2FA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86968" y="5870448"/>
            <a:ext cx="105156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Consolas"/>
              </a:rPr>
              <a:t>app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121408" y="5870448"/>
            <a:ext cx="3063239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Consolas"/>
              </a:rPr>
              <a:t>MainActivity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367528" y="5870448"/>
            <a:ext cx="4023359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맑은 고딕"/>
              </a:rPr>
              <a:t>testTagsAsResourceId = true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573767" y="5870448"/>
            <a:ext cx="1874519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맑은 고딕"/>
              </a:rPr>
              <a:t>E2E 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7240" y="6473952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677"/>
                </a:solidFill>
                <a:latin typeface="맑은 고딕"/>
              </a:rPr>
              <a:t>ci-cd-sample · 아키텍처 분석 보고서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5B6677"/>
                </a:solidFill>
                <a:latin typeface="맑은 고딕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C9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118872" cy="530352"/>
          </a:xfrm>
          <a:prstGeom prst="rect">
            <a:avLst/>
          </a:prstGeom>
          <a:solidFill>
            <a:srgbClr val="0C9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"/>
            <a:ext cx="105156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8FA6CF"/>
                </a:solidFill>
                <a:latin typeface="맑은 고딕"/>
              </a:rPr>
              <a:t>DEPENDENCY INJECTION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38912"/>
            <a:ext cx="107899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FFFFFF"/>
                </a:solidFill>
                <a:latin typeface="맑은 고딕"/>
              </a:rPr>
              <a:t>04. DI 구성 — Hilt 2.53.1 + KSP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98448"/>
            <a:ext cx="106070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677"/>
                </a:solidFill>
                <a:latin typeface="맑은 고딕"/>
              </a:rPr>
              <a:t>:domain 은 DI 프레임워크를 모른다. 생성자 주입(JSR-330 @Inject)만 쓴다.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5120640" cy="2651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C97B8"/>
            </a:solidFill>
          </a:ln>
          <a:effectLst/>
          <a:effectLst>
            <a:outerShdw blurRad="60000" dist="25000" dir="5400000" rotWithShape="0">
              <a:srgbClr val="1A23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874519"/>
            <a:ext cx="5120640" cy="457200"/>
          </a:xfrm>
          <a:prstGeom prst="rect">
            <a:avLst/>
          </a:prstGeom>
          <a:solidFill>
            <a:srgbClr val="0C9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947672"/>
            <a:ext cx="457200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onsolas"/>
              </a:rPr>
              <a:t>SingletonComponent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1560" y="2514600"/>
            <a:ext cx="4572000" cy="566928"/>
          </a:xfrm>
          <a:prstGeom prst="rect">
            <a:avLst/>
          </a:prstGeom>
          <a:solidFill>
            <a:srgbClr val="EEF2FA"/>
          </a:solidFill>
          <a:ln w="9525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1A2333"/>
                </a:solidFill>
                <a:latin typeface="맑은 고딕"/>
              </a:rPr>
              <a:t>DataModule  @Binds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1560" y="3172968"/>
            <a:ext cx="4572000" cy="566928"/>
          </a:xfrm>
          <a:prstGeom prst="rect">
            <a:avLst/>
          </a:prstGeom>
          <a:solidFill>
            <a:srgbClr val="EEF2FA"/>
          </a:solidFill>
          <a:ln w="9525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>
                <a:solidFill>
                  <a:srgbClr val="1A2333"/>
                </a:solidFill>
                <a:latin typeface="맑은 고딕"/>
              </a:rPr>
              <a:t>TaskRepository ◀── DefaultTaskRepository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" y="3831336"/>
            <a:ext cx="4572000" cy="566928"/>
          </a:xfrm>
          <a:prstGeom prst="rect">
            <a:avLst/>
          </a:prstGeom>
          <a:solidFill>
            <a:srgbClr val="EEF2FA"/>
          </a:solidFill>
          <a:ln w="9525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>
                <a:solidFill>
                  <a:srgbClr val="1A2333"/>
                </a:solidFill>
                <a:latin typeface="맑은 고딕"/>
              </a:rPr>
              <a:t>InMemoryTaskDataSource  @Singleton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1874519"/>
            <a:ext cx="5029200" cy="2651760"/>
          </a:xfrm>
          <a:prstGeom prst="rect">
            <a:avLst/>
          </a:prstGeom>
          <a:solidFill>
            <a:srgbClr val="FFFFFF"/>
          </a:solidFill>
          <a:ln w="19050">
            <a:solidFill>
              <a:srgbClr val="2F5BEA"/>
            </a:solidFill>
          </a:ln>
          <a:effectLst/>
          <a:effectLst>
            <a:outerShdw blurRad="60000" dist="25000" dir="5400000" rotWithShape="0">
              <a:srgbClr val="1A23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1874519"/>
            <a:ext cx="5029200" cy="457200"/>
          </a:xfrm>
          <a:prstGeom prst="rect">
            <a:avLst/>
          </a:prstGeom>
          <a:solidFill>
            <a:srgbClr val="2F5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1947672"/>
            <a:ext cx="44805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onsolas"/>
              </a:rPr>
              <a:t>ViewModelComponent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9400" y="2514600"/>
            <a:ext cx="4480560" cy="566928"/>
          </a:xfrm>
          <a:prstGeom prst="rect">
            <a:avLst/>
          </a:prstGeom>
          <a:solidFill>
            <a:srgbClr val="EEF2FA"/>
          </a:solidFill>
          <a:ln w="9525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1A2333"/>
                </a:solidFill>
                <a:latin typeface="맑은 고딕"/>
              </a:rPr>
              <a:t>TaskViewModel  @HiltViewModel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29400" y="3172968"/>
            <a:ext cx="4480560" cy="1225296"/>
          </a:xfrm>
          <a:prstGeom prst="rect">
            <a:avLst/>
          </a:prstGeom>
          <a:solidFill>
            <a:srgbClr val="EEF2FA"/>
          </a:solidFill>
          <a:ln w="9525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>
                <a:solidFill>
                  <a:srgbClr val="1A2333"/>
                </a:solidFill>
                <a:latin typeface="맑은 고딕"/>
              </a:rPr>
              <a:t>UseCase × 6</a:t>
            </a:r>
          </a:p>
          <a:p>
            <a:pPr algn="ctr"/>
            <a:r>
              <a:rPr sz="1100" b="1">
                <a:solidFill>
                  <a:srgbClr val="1A2333"/>
                </a:solidFill>
                <a:latin typeface="맑은 고딕"/>
              </a:rPr>
              <a:t>@Inject constructor</a:t>
            </a:r>
          </a:p>
          <a:p>
            <a:pPr algn="ctr"/>
            <a:r>
              <a:rPr sz="1100" b="1">
                <a:solidFill>
                  <a:srgbClr val="1A2333"/>
                </a:solidFill>
                <a:latin typeface="맑은 고딕"/>
              </a:rPr>
              <a:t>(모듈 선언 불필요)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97880" y="3200400"/>
            <a:ext cx="457200" cy="0"/>
          </a:xfrm>
          <a:prstGeom prst="bentConnector3">
            <a:avLst/>
          </a:prstGeom>
          <a:ln w="25400">
            <a:solidFill>
              <a:srgbClr val="1A2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777240" y="4800600"/>
            <a:ext cx="340156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>
                <a:solidFill>
                  <a:srgbClr val="1A2333"/>
                </a:solidFill>
                <a:latin typeface="맑은 고딕"/>
              </a:rPr>
              <a:t>@HiltAndroidApp</a:t>
            </a:r>
          </a:p>
          <a:p>
            <a:pPr algn="ctr"/>
            <a:r>
              <a:rPr sz="1100" b="1">
                <a:solidFill>
                  <a:srgbClr val="1A2333"/>
                </a:solidFill>
                <a:latin typeface="맑은 고딕"/>
              </a:rPr>
              <a:t>CicdSampleApp — 그래프 시작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61688" y="4800600"/>
            <a:ext cx="340156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>
                <a:solidFill>
                  <a:srgbClr val="1A2333"/>
                </a:solidFill>
                <a:latin typeface="맑은 고딕"/>
              </a:rPr>
              <a:t>@AndroidEntryPoint</a:t>
            </a:r>
          </a:p>
          <a:p>
            <a:pPr algn="ctr"/>
            <a:r>
              <a:rPr sz="1100" b="1">
                <a:solidFill>
                  <a:srgbClr val="1A2333"/>
                </a:solidFill>
                <a:latin typeface="맑은 고딕"/>
              </a:rPr>
              <a:t>MainActivity — 주입 대상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46136" y="4800600"/>
            <a:ext cx="340156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>
                <a:solidFill>
                  <a:srgbClr val="1A2333"/>
                </a:solidFill>
                <a:latin typeface="맑은 고딕"/>
              </a:rPr>
              <a:t>hiltViewModel()</a:t>
            </a:r>
          </a:p>
          <a:p>
            <a:pPr algn="ctr"/>
            <a:r>
              <a:rPr sz="1100" b="1">
                <a:solidFill>
                  <a:srgbClr val="1A2333"/>
                </a:solidFill>
                <a:latin typeface="맑은 고딕"/>
              </a:rPr>
              <a:t>TaskRoute — 화면에 연결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473952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677"/>
                </a:solidFill>
                <a:latin typeface="맑은 고딕"/>
              </a:rPr>
              <a:t>ci-cd-sample · 아키텍처 분석 보고서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5B6677"/>
                </a:solidFill>
                <a:latin typeface="맑은 고딕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118872" cy="530352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"/>
            <a:ext cx="105156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8FA6CF"/>
                </a:solidFill>
                <a:latin typeface="맑은 고딕"/>
              </a:rPr>
              <a:t>DOMAIN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38912"/>
            <a:ext cx="107899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FFFFFF"/>
                </a:solidFill>
                <a:latin typeface="맑은 고딕"/>
              </a:rPr>
              <a:t>05. 도메인 규칙 — 분기가 있어야 테스트가 의미를 갖는다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80160"/>
            <a:ext cx="106070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677"/>
                </a:solidFill>
                <a:latin typeface="맑은 고딕"/>
              </a:rPr>
              <a:t>정렬은 미완료 먼저 → 우선순위 높은 순 → 먼저 등록한 순. 중복은 대소문자·연속 공백을 무시한다.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744200" cy="420624"/>
          </a:xfrm>
          <a:prstGeom prst="rect">
            <a:avLst/>
          </a:prstGeom>
          <a:solidFill>
            <a:srgbClr val="1A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847088"/>
            <a:ext cx="260603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유스케이스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75887" y="1847088"/>
            <a:ext cx="14173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입력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76088" y="1847088"/>
            <a:ext cx="379475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분기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53728" y="1847088"/>
            <a:ext cx="219456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결과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03704"/>
            <a:ext cx="107442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267712"/>
            <a:ext cx="2606039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Consolas"/>
              </a:rPr>
              <a:t>AddTaskUseCase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7" y="2267712"/>
            <a:ext cx="14173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맑은 고딕"/>
              </a:rPr>
              <a:t>제목·우선순위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76088" y="2267712"/>
            <a:ext cx="3794759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맑은 고딕"/>
              </a:rPr>
              <a:t>공백 / 2자 미만 / 40자 초과 / 중복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3728" y="2267712"/>
            <a:ext cx="219456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Consolas"/>
              </a:rPr>
              <a:t>Result&lt;Task&gt;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2624328"/>
            <a:ext cx="10744200" cy="420624"/>
          </a:xfrm>
          <a:prstGeom prst="rect">
            <a:avLst/>
          </a:prstGeom>
          <a:solidFill>
            <a:srgbClr val="EEF2FA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2688336"/>
            <a:ext cx="2606039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Consolas"/>
              </a:rPr>
              <a:t>ObserveTasksUseCase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5887" y="2688336"/>
            <a:ext cx="14173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맑은 고딕"/>
              </a:rPr>
              <a:t>필터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76088" y="2688336"/>
            <a:ext cx="3794759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맑은 고딕"/>
              </a:rPr>
              <a:t>ALL / ACTIVE / DONE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3728" y="2688336"/>
            <a:ext cx="219456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Consolas"/>
              </a:rPr>
              <a:t>Flow&lt;List&lt;Task&gt;&gt;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3044952"/>
            <a:ext cx="107442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3108960"/>
            <a:ext cx="2606039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Consolas"/>
              </a:rPr>
              <a:t>ToggleTaskUseCase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75887" y="3108960"/>
            <a:ext cx="14173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맑은 고딕"/>
              </a:rPr>
              <a:t>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108960"/>
            <a:ext cx="3794759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맑은 고딕"/>
              </a:rPr>
              <a:t>없는 id / 갱신 실패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53728" y="3108960"/>
            <a:ext cx="219456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Consolas"/>
              </a:rPr>
              <a:t>Result&lt;Boolean&gt;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3465576"/>
            <a:ext cx="10744200" cy="420624"/>
          </a:xfrm>
          <a:prstGeom prst="rect">
            <a:avLst/>
          </a:prstGeom>
          <a:solidFill>
            <a:srgbClr val="EEF2FA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3529584"/>
            <a:ext cx="2606039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Consolas"/>
              </a:rPr>
              <a:t>DeleteTaskUseCase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75887" y="3529584"/>
            <a:ext cx="14173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맑은 고딕"/>
              </a:rPr>
              <a:t>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76088" y="3529584"/>
            <a:ext cx="3794759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맑은 고딕"/>
              </a:rPr>
              <a:t>없는 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53728" y="3529584"/>
            <a:ext cx="219456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Consolas"/>
              </a:rPr>
              <a:t>Result&lt;Unit&gt;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" y="3886200"/>
            <a:ext cx="107442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6968" y="3950208"/>
            <a:ext cx="2606039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Consolas"/>
              </a:rPr>
              <a:t>ClearCompletedUseCase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75887" y="3950208"/>
            <a:ext cx="14173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맑은 고딕"/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76088" y="3950208"/>
            <a:ext cx="3794759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맑은 고딕"/>
              </a:rPr>
              <a:t>지울 게 없으면 0 (실패 아님)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53728" y="3950208"/>
            <a:ext cx="219456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Consolas"/>
              </a:rPr>
              <a:t>Int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" y="4306824"/>
            <a:ext cx="10744200" cy="420624"/>
          </a:xfrm>
          <a:prstGeom prst="rect">
            <a:avLst/>
          </a:prstGeom>
          <a:solidFill>
            <a:srgbClr val="EEF2FA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6968" y="4370832"/>
            <a:ext cx="2606039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Consolas"/>
              </a:rPr>
              <a:t>GetTaskStatsUseCase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75887" y="4370832"/>
            <a:ext cx="14173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맑은 고딕"/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76088" y="4370832"/>
            <a:ext cx="3794759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맑은 고딕"/>
              </a:rPr>
              <a:t>전체 0건 → 0으로 나누지 않음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53728" y="4370832"/>
            <a:ext cx="219456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Consolas"/>
              </a:rPr>
              <a:t>Flow&lt;TaskStats&gt;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473952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677"/>
                </a:solidFill>
                <a:latin typeface="맑은 고딕"/>
              </a:rPr>
              <a:t>ci-cd-sample · 아키텍처 분석 보고서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5B6677"/>
                </a:solidFill>
                <a:latin typeface="맑은 고딕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F5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118872" cy="530352"/>
          </a:xfrm>
          <a:prstGeom prst="rect">
            <a:avLst/>
          </a:prstGeom>
          <a:solidFill>
            <a:srgbClr val="2F5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"/>
            <a:ext cx="105156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8FA6CF"/>
                </a:solidFill>
                <a:latin typeface="맑은 고딕"/>
              </a:rPr>
              <a:t>DATA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38912"/>
            <a:ext cx="107899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FFFFFF"/>
                </a:solidFill>
                <a:latin typeface="맑은 고딕"/>
              </a:rPr>
              <a:t>06. 단방향 데이터 흐름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98448"/>
            <a:ext cx="106070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677"/>
                </a:solidFill>
                <a:latin typeface="맑은 고딕"/>
              </a:rPr>
              <a:t>이벤트는 위로, 상태는 아래로. TaskScreen 은 콜백만 호출하고 상태를 만들지 않는다.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1371600" cy="457200"/>
          </a:xfrm>
          <a:prstGeom prst="rect">
            <a:avLst/>
          </a:prstGeom>
          <a:solidFill>
            <a:srgbClr val="5B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</a:rPr>
              <a:t>사용자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143000" y="2286000"/>
            <a:ext cx="0" cy="3063240"/>
          </a:xfrm>
          <a:prstGeom prst="bentConnector3">
            <a:avLst/>
          </a:prstGeom>
          <a:ln w="15875">
            <a:solidFill>
              <a:srgbClr val="D3DAE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743200" y="1828800"/>
            <a:ext cx="1828800" cy="457200"/>
          </a:xfrm>
          <a:prstGeom prst="rect">
            <a:avLst/>
          </a:prstGeom>
          <a:solidFill>
            <a:srgbClr val="2F5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</a:rPr>
              <a:t>TaskScreen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429000" y="2286000"/>
            <a:ext cx="0" cy="3063240"/>
          </a:xfrm>
          <a:prstGeom prst="bentConnector3">
            <a:avLst/>
          </a:prstGeom>
          <a:ln w="15875">
            <a:solidFill>
              <a:srgbClr val="D3DAE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120640" y="1828800"/>
            <a:ext cx="1828800" cy="457200"/>
          </a:xfrm>
          <a:prstGeom prst="rect">
            <a:avLst/>
          </a:prstGeom>
          <a:solidFill>
            <a:srgbClr val="2F5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</a:rPr>
              <a:t>TaskViewModel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06440" y="2286000"/>
            <a:ext cx="0" cy="3063240"/>
          </a:xfrm>
          <a:prstGeom prst="bentConnector3">
            <a:avLst/>
          </a:prstGeom>
          <a:ln w="15875">
            <a:solidFill>
              <a:srgbClr val="D3DAE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498079" y="1828800"/>
            <a:ext cx="1828800" cy="457200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</a:rPr>
              <a:t>UseCase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183879" y="2286000"/>
            <a:ext cx="0" cy="3063240"/>
          </a:xfrm>
          <a:prstGeom prst="bentConnector3">
            <a:avLst/>
          </a:prstGeom>
          <a:ln w="15875">
            <a:solidFill>
              <a:srgbClr val="D3DAE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9601200" y="1828800"/>
            <a:ext cx="1828800" cy="457200"/>
          </a:xfrm>
          <a:prstGeom prst="rect">
            <a:avLst/>
          </a:prstGeom>
          <a:solidFill>
            <a:srgbClr val="0C9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</a:rPr>
              <a:t>Repository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287000" y="2286000"/>
            <a:ext cx="0" cy="3063240"/>
          </a:xfrm>
          <a:prstGeom prst="bentConnector3">
            <a:avLst/>
          </a:prstGeom>
          <a:ln w="15875">
            <a:solidFill>
              <a:srgbClr val="D3DAE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43000" y="2606040"/>
            <a:ext cx="2103120" cy="0"/>
          </a:xfrm>
          <a:prstGeom prst="bentConnector3">
            <a:avLst/>
          </a:prstGeom>
          <a:ln w="22225">
            <a:solidFill>
              <a:srgbClr val="1A2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234440" y="2295144"/>
            <a:ext cx="2103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A2333"/>
                </a:solidFill>
                <a:latin typeface="Consolas"/>
              </a:rPr>
              <a:t>탭 / 입력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429000" y="3063240"/>
            <a:ext cx="2377440" cy="0"/>
          </a:xfrm>
          <a:prstGeom prst="bentConnector3">
            <a:avLst/>
          </a:prstGeom>
          <a:ln w="22225">
            <a:solidFill>
              <a:srgbClr val="1A2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520440" y="2752344"/>
            <a:ext cx="237743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A2333"/>
                </a:solidFill>
                <a:latin typeface="Consolas"/>
              </a:rPr>
              <a:t>onAddClick()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806440" y="3520440"/>
            <a:ext cx="2377439" cy="0"/>
          </a:xfrm>
          <a:prstGeom prst="bentConnector3">
            <a:avLst/>
          </a:prstGeom>
          <a:ln w="22225">
            <a:solidFill>
              <a:srgbClr val="1A2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897879" y="3209544"/>
            <a:ext cx="237743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A2333"/>
                </a:solidFill>
                <a:latin typeface="Consolas"/>
              </a:rPr>
              <a:t>invoke()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83879" y="3977639"/>
            <a:ext cx="2103121" cy="0"/>
          </a:xfrm>
          <a:prstGeom prst="bentConnector3">
            <a:avLst/>
          </a:prstGeom>
          <a:ln w="22225">
            <a:solidFill>
              <a:srgbClr val="1A2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275319" y="3666744"/>
            <a:ext cx="2103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A2333"/>
                </a:solidFill>
                <a:latin typeface="Consolas"/>
              </a:rPr>
              <a:t>addTask()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5806440" y="4617720"/>
            <a:ext cx="4480560" cy="0"/>
          </a:xfrm>
          <a:prstGeom prst="bentConnector3">
            <a:avLst/>
          </a:prstGeom>
          <a:ln w="25400">
            <a:solidFill>
              <a:srgbClr val="0C97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400800" y="4306824"/>
            <a:ext cx="38404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C97B8"/>
                </a:solidFill>
                <a:latin typeface="Consolas"/>
              </a:rPr>
              <a:t>Flow&lt;List&lt;Task&gt;&gt; 재방출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3429000" y="5074920"/>
            <a:ext cx="2377440" cy="0"/>
          </a:xfrm>
          <a:prstGeom prst="bentConnector3">
            <a:avLst/>
          </a:prstGeom>
          <a:ln w="25400">
            <a:solidFill>
              <a:srgbClr val="2F5BE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657600" y="4764024"/>
            <a:ext cx="2743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F5BEA"/>
                </a:solidFill>
                <a:latin typeface="Consolas"/>
              </a:rPr>
              <a:t>StateFlow&lt;UiState&gt;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5669280"/>
            <a:ext cx="10607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1A2333"/>
                </a:solidFill>
                <a:latin typeface="맑은 고딕"/>
              </a:rPr>
              <a:t>uiState = combine(filter, 목록, 통계, 입력 폼)  ·  SharingStarted.WhileSubscribed(5초)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473952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677"/>
                </a:solidFill>
                <a:latin typeface="맑은 고딕"/>
              </a:rPr>
              <a:t>ci-cd-sample · 아키텍처 분석 보고서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5B6677"/>
                </a:solidFill>
                <a:latin typeface="맑은 고딕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9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118872" cy="530352"/>
          </a:xfrm>
          <a:prstGeom prst="rect">
            <a:avLst/>
          </a:prstGeom>
          <a:solidFill>
            <a:srgbClr val="149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"/>
            <a:ext cx="105156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8FA6CF"/>
                </a:solidFill>
                <a:latin typeface="맑은 고딕"/>
              </a:rPr>
              <a:t>TEST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38912"/>
            <a:ext cx="107899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FFFFFF"/>
                </a:solidFill>
                <a:latin typeface="맑은 고딕"/>
              </a:rPr>
              <a:t>07. 3단 테스트 전략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80160"/>
            <a:ext cx="106070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677"/>
                </a:solidFill>
                <a:latin typeface="맑은 고딕"/>
              </a:rPr>
              <a:t>빠르고 많은 테스트를 아래에, 느리고 적은 테스트를 위에. 실측값 기준.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744200" cy="475488"/>
          </a:xfrm>
          <a:prstGeom prst="rect">
            <a:avLst/>
          </a:prstGeom>
          <a:solidFill>
            <a:srgbClr val="1A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847088"/>
            <a:ext cx="173736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티어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07208" y="1847088"/>
            <a:ext cx="25603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위치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50408" y="1847088"/>
            <a:ext cx="6858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개수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1847088"/>
            <a:ext cx="18288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실행 환경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7" y="1847088"/>
            <a:ext cx="173736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잡는 결함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51007" y="1847088"/>
            <a:ext cx="109728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실측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258568"/>
            <a:ext cx="107442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2322575"/>
            <a:ext cx="173736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맑은 고딕"/>
              </a:rPr>
              <a:t>단위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07208" y="2322575"/>
            <a:ext cx="256032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Consolas"/>
              </a:rPr>
              <a:t>domain/src/test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50408" y="2322575"/>
            <a:ext cx="6858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맑은 고딕"/>
              </a:rPr>
              <a:t>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2322575"/>
            <a:ext cx="18288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맑은 고딕"/>
              </a:rPr>
              <a:t>JVM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7" y="2322575"/>
            <a:ext cx="173736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맑은 고딕"/>
              </a:rPr>
              <a:t>검증·정렬·집계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51007" y="2322575"/>
            <a:ext cx="1097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맑은 고딕"/>
              </a:rPr>
              <a:t>0.4초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2734056"/>
            <a:ext cx="10744200" cy="475488"/>
          </a:xfrm>
          <a:prstGeom prst="rect">
            <a:avLst/>
          </a:prstGeom>
          <a:solidFill>
            <a:srgbClr val="EEF2FA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2798063"/>
            <a:ext cx="173736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맑은 고딕"/>
              </a:rPr>
              <a:t>단위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07208" y="2798063"/>
            <a:ext cx="256032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Consolas"/>
              </a:rPr>
              <a:t>data/src/test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50408" y="2798063"/>
            <a:ext cx="6858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맑은 고딕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2798063"/>
            <a:ext cx="18288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맑은 고딕"/>
              </a:rPr>
              <a:t>JVM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30767" y="2798063"/>
            <a:ext cx="173736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맑은 고딕"/>
              </a:rPr>
              <a:t>id 발급·Flow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51007" y="2798063"/>
            <a:ext cx="1097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맑은 고딕"/>
              </a:rPr>
              <a:t>1초 미만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3209544"/>
            <a:ext cx="107442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968" y="3273551"/>
            <a:ext cx="173736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맑은 고딕"/>
              </a:rPr>
              <a:t>단위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07208" y="3273551"/>
            <a:ext cx="256032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Consolas"/>
              </a:rPr>
              <a:t>app/src/test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50408" y="3273551"/>
            <a:ext cx="6858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맑은 고딕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9088" y="3273551"/>
            <a:ext cx="18288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맑은 고딕"/>
              </a:rPr>
              <a:t>JVM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30767" y="3273551"/>
            <a:ext cx="173736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맑은 고딕"/>
              </a:rPr>
              <a:t>상태 조립·문구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51007" y="3273551"/>
            <a:ext cx="1097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맑은 고딕"/>
              </a:rPr>
              <a:t>1초 미만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3685031"/>
            <a:ext cx="10744200" cy="475488"/>
          </a:xfrm>
          <a:prstGeom prst="rect">
            <a:avLst/>
          </a:prstGeom>
          <a:solidFill>
            <a:srgbClr val="EEF2FA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6968" y="3749039"/>
            <a:ext cx="173736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맑은 고딕"/>
              </a:rPr>
              <a:t>Compose UI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07208" y="3749039"/>
            <a:ext cx="256032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Consolas"/>
              </a:rPr>
              <a:t>app/src/androidTest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50408" y="3749039"/>
            <a:ext cx="6858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맑은 고딕"/>
              </a:rPr>
              <a:t>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19088" y="3749039"/>
            <a:ext cx="18288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맑은 고딕"/>
              </a:rPr>
              <a:t>기기/에뮬레이터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30767" y="3749039"/>
            <a:ext cx="173736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맑은 고딕"/>
              </a:rPr>
              <a:t>렌더링·배선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51007" y="3749039"/>
            <a:ext cx="1097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맑은 고딕"/>
              </a:rPr>
              <a:t>2분 36초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4160519"/>
            <a:ext cx="107442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6968" y="4224527"/>
            <a:ext cx="173736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맑은 고딕"/>
              </a:rPr>
              <a:t>E2E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07208" y="4224527"/>
            <a:ext cx="256032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Consolas"/>
              </a:rPr>
              <a:t>.maestro/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50408" y="4224527"/>
            <a:ext cx="6858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맑은 고딕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19088" y="4224527"/>
            <a:ext cx="18288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맑은 고딕"/>
              </a:rPr>
              <a:t>기기/에뮬레이터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30767" y="4224527"/>
            <a:ext cx="173736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맑은 고딕"/>
              </a:rPr>
              <a:t>앱 전체 흐름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51007" y="4224527"/>
            <a:ext cx="1097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맑은 고딕"/>
              </a:rPr>
              <a:t>1분 57초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240" y="6473952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677"/>
                </a:solidFill>
                <a:latin typeface="맑은 고딕"/>
              </a:rPr>
              <a:t>ci-cd-sample · 아키텍처 분석 보고서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5B6677"/>
                </a:solidFill>
                <a:latin typeface="맑은 고딕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9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118872" cy="530352"/>
          </a:xfrm>
          <a:prstGeom prst="rect">
            <a:avLst/>
          </a:prstGeom>
          <a:solidFill>
            <a:srgbClr val="149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"/>
            <a:ext cx="105156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8FA6CF"/>
                </a:solidFill>
                <a:latin typeface="맑은 고딕"/>
              </a:rPr>
              <a:t>CI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38912"/>
            <a:ext cx="107899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FFFFFF"/>
                </a:solidFill>
                <a:latin typeface="맑은 고딕"/>
              </a:rPr>
              <a:t>08. CI 파이프라인 — 잡을 어떻게 쪼갰나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98448"/>
            <a:ext cx="106070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677"/>
                </a:solidFill>
                <a:latin typeface="맑은 고딕"/>
              </a:rPr>
              <a:t>E2E 는 APK 를 다시 빌드하지 않는다. build 잡의 아티팩트를 받아 설치한다.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965960"/>
            <a:ext cx="2148840" cy="868680"/>
          </a:xfrm>
          <a:prstGeom prst="rect">
            <a:avLst/>
          </a:prstGeom>
          <a:solidFill>
            <a:srgbClr val="1A2333"/>
          </a:solidFill>
          <a:ln>
            <a:noFill/>
          </a:ln>
          <a:effectLst/>
          <a:effectLst>
            <a:outerShdw blurRad="60000" dist="25000" dir="5400000" rotWithShape="0">
              <a:srgbClr val="1A23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</a:rPr>
              <a:t>PR / push(main)</a:t>
            </a:r>
          </a:p>
          <a:p>
            <a:pPr algn="ctr"/>
            <a:r>
              <a:rPr sz="1150" b="1">
                <a:solidFill>
                  <a:srgbClr val="FFFFFF"/>
                </a:solidFill>
                <a:latin typeface="맑은 고딕"/>
              </a:rPr>
              <a:t>수동 실행</a:t>
            </a:r>
          </a:p>
        </p:txBody>
      </p:sp>
      <p:sp>
        <p:nvSpPr>
          <p:cNvPr id="9" name="Rectangle 8"/>
          <p:cNvSpPr/>
          <p:nvPr/>
        </p:nvSpPr>
        <p:spPr>
          <a:xfrm>
            <a:off x="3703320" y="1783080"/>
            <a:ext cx="3063240" cy="960120"/>
          </a:xfrm>
          <a:prstGeom prst="rect">
            <a:avLst/>
          </a:prstGeom>
          <a:solidFill>
            <a:srgbClr val="149A6B"/>
          </a:solidFill>
          <a:ln>
            <a:noFill/>
          </a:ln>
          <a:effectLst/>
          <a:effectLst>
            <a:outerShdw blurRad="60000" dist="25000" dir="5400000" rotWithShape="0">
              <a:srgbClr val="1A23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unit-test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단위 44 + 린트 · 약 3분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03320" y="3017520"/>
            <a:ext cx="3063240" cy="960120"/>
          </a:xfrm>
          <a:prstGeom prst="rect">
            <a:avLst/>
          </a:prstGeom>
          <a:solidFill>
            <a:srgbClr val="2F5BEA"/>
          </a:solidFill>
          <a:ln>
            <a:noFill/>
          </a:ln>
          <a:effectLst/>
          <a:effectLst>
            <a:outerShdw blurRad="60000" dist="25000" dir="5400000" rotWithShape="0">
              <a:srgbClr val="1A23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build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assembleDebug · 약 3분 30초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18120" y="3017520"/>
            <a:ext cx="3566160" cy="960120"/>
          </a:xfrm>
          <a:prstGeom prst="rect">
            <a:avLst/>
          </a:prstGeom>
          <a:solidFill>
            <a:srgbClr val="E0512E"/>
          </a:solidFill>
          <a:ln>
            <a:noFill/>
          </a:ln>
          <a:effectLst/>
          <a:effectLst>
            <a:outerShdw blurRad="60000" dist="25000" dir="5400000" rotWithShape="0">
              <a:srgbClr val="1A23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e2e   needs: build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에뮬레이터 + Maestro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26080" y="2267712"/>
            <a:ext cx="777240" cy="0"/>
          </a:xfrm>
          <a:prstGeom prst="bentConnector3">
            <a:avLst/>
          </a:prstGeom>
          <a:ln w="25400">
            <a:solidFill>
              <a:srgbClr val="1A2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926080" y="3502152"/>
            <a:ext cx="777240" cy="0"/>
          </a:xfrm>
          <a:prstGeom prst="bentConnector3">
            <a:avLst/>
          </a:prstGeom>
          <a:ln w="25400">
            <a:solidFill>
              <a:srgbClr val="1A2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766560" y="3502152"/>
            <a:ext cx="1051560" cy="0"/>
          </a:xfrm>
          <a:prstGeom prst="bentConnector3">
            <a:avLst/>
          </a:prstGeom>
          <a:ln w="25400">
            <a:solidFill>
              <a:srgbClr val="1A2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20840" y="3127248"/>
            <a:ext cx="11887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5B6677"/>
                </a:solidFill>
                <a:latin typeface="Consolas"/>
              </a:rPr>
              <a:t>APK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1417320"/>
            <a:ext cx="306324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1389888"/>
            <a:ext cx="30632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49A6B"/>
                </a:solidFill>
                <a:latin typeface="맑은 고딕"/>
              </a:rPr>
              <a:t>두 잡은 병렬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480560"/>
            <a:ext cx="256032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2F5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>
                <a:solidFill>
                  <a:srgbClr val="1A2333"/>
                </a:solidFill>
                <a:latin typeface="맑은 고딕"/>
              </a:rPr>
              <a:t>test / lint 리포트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02152" y="4480560"/>
            <a:ext cx="256032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C97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>
                <a:solidFill>
                  <a:srgbClr val="1A2333"/>
                </a:solidFill>
                <a:latin typeface="맑은 고딕"/>
              </a:rPr>
              <a:t>app-debug.apk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27064" y="4480560"/>
            <a:ext cx="256032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E051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>
                <a:solidFill>
                  <a:srgbClr val="1A2333"/>
                </a:solidFill>
                <a:latin typeface="맑은 고딕"/>
              </a:rPr>
              <a:t>maestro-report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51976" y="4480560"/>
            <a:ext cx="256032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7A5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>
                <a:solidFill>
                  <a:srgbClr val="1A2333"/>
                </a:solidFill>
                <a:latin typeface="맑은 고딕"/>
              </a:rPr>
              <a:t>실패 시 PR 코멘트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532120"/>
            <a:ext cx="106070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1A2333"/>
                </a:solidFill>
                <a:latin typeface="맑은 고딕"/>
              </a:rPr>
              <a:t>concurrency 취소 · Gradle 캐시(setup-gradle) · AVD 스냅샷 캐시 · paths-ignore 는 push 에만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473952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677"/>
                </a:solidFill>
                <a:latin typeface="맑은 고딕"/>
              </a:rPr>
              <a:t>ci-cd-sample · 아키텍처 분석 보고서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5B6677"/>
                </a:solidFill>
                <a:latin typeface="맑은 고딕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05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118872" cy="530352"/>
          </a:xfrm>
          <a:prstGeom prst="rect">
            <a:avLst/>
          </a:prstGeom>
          <a:solidFill>
            <a:srgbClr val="E05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"/>
            <a:ext cx="105156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8FA6CF"/>
                </a:solidFill>
                <a:latin typeface="맑은 고딕"/>
              </a:rPr>
              <a:t>CD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38912"/>
            <a:ext cx="107899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FFFFFF"/>
                </a:solidFill>
                <a:latin typeface="맑은 고딕"/>
              </a:rPr>
              <a:t>09. CD 파이프라인 — 태그 하나로 서명 릴리스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98448"/>
            <a:ext cx="106070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677"/>
                </a:solidFill>
                <a:latin typeface="맑은 고딕"/>
              </a:rPr>
              <a:t>공개 저장소이므로 시크릿이 없는 포크에서도 통과해야 한다 — 서명을 건너뛰고 unsigned 로 계속 진행한다.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103120"/>
            <a:ext cx="1920240" cy="1463040"/>
          </a:xfrm>
          <a:prstGeom prst="rect">
            <a:avLst/>
          </a:prstGeom>
          <a:solidFill>
            <a:srgbClr val="1A2333"/>
          </a:solidFill>
          <a:ln>
            <a:noFill/>
          </a:ln>
          <a:effectLst/>
          <a:effectLst>
            <a:outerShdw blurRad="60000" dist="25000" dir="5400000" rotWithShape="0">
              <a:srgbClr val="1A23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git tag v0.1.0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/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태그 push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97480" y="2834640"/>
            <a:ext cx="320040" cy="0"/>
          </a:xfrm>
          <a:prstGeom prst="bentConnector3">
            <a:avLst/>
          </a:prstGeom>
          <a:ln w="25400">
            <a:solidFill>
              <a:srgbClr val="1A2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017520" y="2103120"/>
            <a:ext cx="1920240" cy="1463040"/>
          </a:xfrm>
          <a:prstGeom prst="rect">
            <a:avLst/>
          </a:prstGeom>
          <a:solidFill>
            <a:srgbClr val="E0512E"/>
          </a:solidFill>
          <a:ln>
            <a:noFill/>
          </a:ln>
          <a:effectLst/>
          <a:effectLst>
            <a:outerShdw blurRad="60000" dist="25000" dir="5400000" rotWithShape="0">
              <a:srgbClr val="1A23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버전 가드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/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태그 ↔ versionName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다르면 즉시 실패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37760" y="2834640"/>
            <a:ext cx="320040" cy="0"/>
          </a:xfrm>
          <a:prstGeom prst="bentConnector3">
            <a:avLst/>
          </a:prstGeom>
          <a:ln w="25400">
            <a:solidFill>
              <a:srgbClr val="1A2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257800" y="2103120"/>
            <a:ext cx="1920240" cy="1463040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  <a:effectLst>
            <a:outerShdw blurRad="60000" dist="25000" dir="5400000" rotWithShape="0">
              <a:srgbClr val="1A23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키스토어 준비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/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base64 → runner.temp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없으면 서명 생략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178040" y="2834640"/>
            <a:ext cx="320039" cy="0"/>
          </a:xfrm>
          <a:prstGeom prst="bentConnector3">
            <a:avLst/>
          </a:prstGeom>
          <a:ln w="25400">
            <a:solidFill>
              <a:srgbClr val="1A2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498079" y="2103120"/>
            <a:ext cx="1920240" cy="1463040"/>
          </a:xfrm>
          <a:prstGeom prst="rect">
            <a:avLst/>
          </a:prstGeom>
          <a:solidFill>
            <a:srgbClr val="2F5BEA"/>
          </a:solidFill>
          <a:ln>
            <a:noFill/>
          </a:ln>
          <a:effectLst/>
          <a:effectLst>
            <a:outerShdw blurRad="60000" dist="25000" dir="5400000" rotWithShape="0">
              <a:srgbClr val="1A23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빌드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/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assembleRelease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bundleRelease (R8)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418319" y="2834640"/>
            <a:ext cx="320040" cy="0"/>
          </a:xfrm>
          <a:prstGeom prst="bentConnector3">
            <a:avLst/>
          </a:prstGeom>
          <a:ln w="25400">
            <a:solidFill>
              <a:srgbClr val="1A2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9738359" y="2103120"/>
            <a:ext cx="1920240" cy="1463040"/>
          </a:xfrm>
          <a:prstGeom prst="rect">
            <a:avLst/>
          </a:prstGeom>
          <a:solidFill>
            <a:srgbClr val="149A6B"/>
          </a:solidFill>
          <a:ln>
            <a:noFill/>
          </a:ln>
          <a:effectLst/>
          <a:effectLst>
            <a:outerShdw blurRad="60000" dist="25000" dir="5400000" rotWithShape="0">
              <a:srgbClr val="1A23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게시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/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gh release create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--generate-notes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977639"/>
            <a:ext cx="10607040" cy="384048"/>
          </a:xfrm>
          <a:prstGeom prst="rect">
            <a:avLst/>
          </a:prstGeom>
          <a:solidFill>
            <a:srgbClr val="1A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023359"/>
            <a:ext cx="36576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시크릿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27448" y="4023359"/>
            <a:ext cx="292607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내용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36407" y="4023359"/>
            <a:ext cx="34747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사용처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361688"/>
            <a:ext cx="10607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4407407"/>
            <a:ext cx="36576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Consolas"/>
              </a:rPr>
              <a:t>ANDROID_KEYSTORE_BASE64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27448" y="4407407"/>
            <a:ext cx="292608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맑은 고딕"/>
              </a:rPr>
              <a:t>키스토어 파일 base64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36408" y="4407407"/>
            <a:ext cx="34747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6677"/>
                </a:solidFill>
                <a:latin typeface="맑은 고딕"/>
              </a:rPr>
              <a:t>잡 안에서 runner.temp 로 디코드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745736"/>
            <a:ext cx="10607040" cy="384048"/>
          </a:xfrm>
          <a:prstGeom prst="rect">
            <a:avLst/>
          </a:prstGeom>
          <a:solidFill>
            <a:srgbClr val="EEF2FA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4791455"/>
            <a:ext cx="36576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Consolas"/>
              </a:rPr>
              <a:t>ANDROID_KEYSTORE_PASSWORD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27448" y="4791455"/>
            <a:ext cx="292608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맑은 고딕"/>
              </a:rPr>
              <a:t>스토어 비밀번호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36408" y="4791455"/>
            <a:ext cx="34747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6677"/>
                </a:solidFill>
                <a:latin typeface="맑은 고딕"/>
              </a:rPr>
              <a:t>signingConfigs 환경변수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5129783"/>
            <a:ext cx="10607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968" y="5175503"/>
            <a:ext cx="36576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Consolas"/>
              </a:rPr>
              <a:t>ANDROID_KEY_ALIAS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27448" y="5175503"/>
            <a:ext cx="292608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맑은 고딕"/>
              </a:rPr>
              <a:t>키 별칭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36408" y="5175503"/>
            <a:ext cx="34747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6677"/>
                </a:solidFill>
                <a:latin typeface="맑은 고딕"/>
              </a:rPr>
              <a:t>signingConfigs 환경변수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" y="5513831"/>
            <a:ext cx="10607040" cy="384048"/>
          </a:xfrm>
          <a:prstGeom prst="rect">
            <a:avLst/>
          </a:prstGeom>
          <a:solidFill>
            <a:srgbClr val="EEF2FA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6968" y="5559551"/>
            <a:ext cx="36576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Consolas"/>
              </a:rPr>
              <a:t>ANDROID_KEY_PASSWORD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27448" y="5559551"/>
            <a:ext cx="292608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맑은 고딕"/>
              </a:rPr>
              <a:t>키 비밀번호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36408" y="5559551"/>
            <a:ext cx="34747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6677"/>
                </a:solidFill>
                <a:latin typeface="맑은 고딕"/>
              </a:rPr>
              <a:t>signingConfigs 환경변수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473952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677"/>
                </a:solidFill>
                <a:latin typeface="맑은 고딕"/>
              </a:rPr>
              <a:t>ci-cd-sample · 아키텍처 분석 보고서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5B6677"/>
                </a:solidFill>
                <a:latin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C9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118872" cy="530352"/>
          </a:xfrm>
          <a:prstGeom prst="rect">
            <a:avLst/>
          </a:prstGeom>
          <a:solidFill>
            <a:srgbClr val="0C9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"/>
            <a:ext cx="105156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8FA6CF"/>
                </a:solidFill>
                <a:latin typeface="맑은 고딕"/>
              </a:rPr>
              <a:t>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38912"/>
            <a:ext cx="107899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FFFFFF"/>
                </a:solidFill>
                <a:latin typeface="맑은 고딕"/>
              </a:rPr>
              <a:t>10. 운영 · 확장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80160"/>
            <a:ext cx="106070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677"/>
                </a:solidFill>
                <a:latin typeface="맑은 고딕"/>
              </a:rPr>
              <a:t>지금의 선택과 그 근거, 그리고 넓힐 방향.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744200" cy="420624"/>
          </a:xfrm>
          <a:prstGeom prst="rect">
            <a:avLst/>
          </a:prstGeom>
          <a:solidFill>
            <a:srgbClr val="1A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847088"/>
            <a:ext cx="173736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항목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07208" y="1847088"/>
            <a:ext cx="310896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현재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8" y="1847088"/>
            <a:ext cx="534924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근거 / 확장 방향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203704"/>
            <a:ext cx="107442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2267712"/>
            <a:ext cx="173736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맑은 고딕"/>
              </a:rPr>
              <a:t>영속화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07208" y="2267712"/>
            <a:ext cx="310896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맑은 고딕"/>
              </a:rPr>
              <a:t>메모리(MutableStateFlow)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8" y="2267712"/>
            <a:ext cx="534924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맑은 고딕"/>
              </a:rPr>
              <a:t>파이프라인이 주제라 Room 제외. 붙여도 인터페이스는 그대로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2624328"/>
            <a:ext cx="10744200" cy="420624"/>
          </a:xfrm>
          <a:prstGeom prst="rect">
            <a:avLst/>
          </a:prstGeom>
          <a:solidFill>
            <a:srgbClr val="EEF2FA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2688336"/>
            <a:ext cx="173736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맑은 고딕"/>
              </a:rPr>
              <a:t>정적 분석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7208" y="2688336"/>
            <a:ext cx="310896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맑은 고딕"/>
              </a:rPr>
              <a:t>Android Lint (lintDebug)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9048" y="2688336"/>
            <a:ext cx="534924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맑은 고딕"/>
              </a:rPr>
              <a:t>detekt/ktlint 는 플러그인 버전 리스크로 보류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044952"/>
            <a:ext cx="107442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3108960"/>
            <a:ext cx="173736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맑은 고딕"/>
              </a:rPr>
              <a:t>캐시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07208" y="3108960"/>
            <a:ext cx="310896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맑은 고딕"/>
              </a:rPr>
              <a:t>Gradle + AVD 스냅샷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48" y="3108960"/>
            <a:ext cx="534924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맑은 고딕"/>
              </a:rPr>
              <a:t>AVD 캐시 키를 API 레벨에 묶어 무효화 제어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3465576"/>
            <a:ext cx="10744200" cy="420624"/>
          </a:xfrm>
          <a:prstGeom prst="rect">
            <a:avLst/>
          </a:prstGeom>
          <a:solidFill>
            <a:srgbClr val="EEF2FA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3529584"/>
            <a:ext cx="173736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맑은 고딕"/>
              </a:rPr>
              <a:t>비용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07208" y="3529584"/>
            <a:ext cx="310896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맑은 고딕"/>
              </a:rPr>
              <a:t>공개 저장소 = Actions 무료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9048" y="3529584"/>
            <a:ext cx="534924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맑은 고딕"/>
              </a:rPr>
              <a:t>concurrency 취소 + needs 로 낭비 차단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3886200"/>
            <a:ext cx="107442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3950208"/>
            <a:ext cx="173736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맑은 고딕"/>
              </a:rPr>
              <a:t>의존성 갱신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07208" y="3950208"/>
            <a:ext cx="310896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맑은 고딕"/>
              </a:rPr>
              <a:t>Dependabot 주간/월간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9048" y="3950208"/>
            <a:ext cx="534924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맑은 고딕"/>
              </a:rPr>
              <a:t>kotlin·ksp·compose·hilt 를 그룹으로 묶어 동시 갱신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4306824"/>
            <a:ext cx="10744200" cy="420624"/>
          </a:xfrm>
          <a:prstGeom prst="rect">
            <a:avLst/>
          </a:prstGeom>
          <a:solidFill>
            <a:srgbClr val="EEF2FA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4370832"/>
            <a:ext cx="173736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맑은 고딕"/>
              </a:rPr>
              <a:t>배포 확장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07208" y="4370832"/>
            <a:ext cx="310896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맑은 고딕"/>
              </a:rPr>
              <a:t>GitHub Releases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9048" y="4370832"/>
            <a:ext cx="534924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33"/>
                </a:solidFill>
                <a:latin typeface="맑은 고딕"/>
              </a:rPr>
              <a:t>Firebase App Distribution / Play Console 추가 가능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473952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677"/>
                </a:solidFill>
                <a:latin typeface="맑은 고딕"/>
              </a:rPr>
              <a:t>ci-cd-sample · 아키텍처 분석 보고서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5B6677"/>
                </a:solidFill>
                <a:latin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152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685800"/>
            <a:ext cx="146304" cy="914400"/>
          </a:xfrm>
          <a:prstGeom prst="rect">
            <a:avLst/>
          </a:prstGeom>
          <a:solidFill>
            <a:srgbClr val="2F5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640080"/>
            <a:ext cx="91440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C97B8"/>
                </a:solidFill>
                <a:latin typeface="맑은 고딕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051560"/>
            <a:ext cx="100584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FFFFFF"/>
                </a:solidFill>
                <a:latin typeface="맑은 고딕"/>
              </a:rPr>
              <a:t>11. 요약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1920240"/>
            <a:ext cx="10058400" cy="658368"/>
          </a:xfrm>
          <a:prstGeom prst="rect">
            <a:avLst/>
          </a:prstGeom>
          <a:solidFill>
            <a:srgbClr val="16294C"/>
          </a:solidFill>
          <a:ln w="15240">
            <a:solidFill>
              <a:srgbClr val="2F5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1920240"/>
            <a:ext cx="109728" cy="658368"/>
          </a:xfrm>
          <a:prstGeom prst="rect">
            <a:avLst/>
          </a:prstGeom>
          <a:solidFill>
            <a:srgbClr val="2F5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1984248"/>
            <a:ext cx="27432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</a:rPr>
              <a:t>한 방향 의존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984248"/>
            <a:ext cx="66751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C9D6EE"/>
                </a:solidFill>
                <a:latin typeface="맑은 고딕"/>
              </a:rPr>
              <a:t>계층 위반을 컴파일러가 막는다 — 리뷰에 기대지 않는다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2651760"/>
            <a:ext cx="10058400" cy="658368"/>
          </a:xfrm>
          <a:prstGeom prst="rect">
            <a:avLst/>
          </a:prstGeom>
          <a:solidFill>
            <a:srgbClr val="16294C"/>
          </a:solidFill>
          <a:ln w="15240">
            <a:solidFill>
              <a:srgbClr val="7A5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97280" y="2651760"/>
            <a:ext cx="109728" cy="658368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2715768"/>
            <a:ext cx="27432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</a:rPr>
              <a:t>순수 JVM 도메인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715768"/>
            <a:ext cx="66751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C9D6EE"/>
                </a:solidFill>
                <a:latin typeface="맑은 고딕"/>
              </a:rPr>
              <a:t>단위 44개가 에뮬레이터 없이 초 단위로 끝난다 — CI 1층이 두꺼워진다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3383280"/>
            <a:ext cx="10058400" cy="658368"/>
          </a:xfrm>
          <a:prstGeom prst="rect">
            <a:avLst/>
          </a:prstGeom>
          <a:solidFill>
            <a:srgbClr val="16294C"/>
          </a:solidFill>
          <a:ln w="15240">
            <a:solidFill>
              <a:srgbClr val="0C97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97280" y="3383280"/>
            <a:ext cx="109728" cy="658368"/>
          </a:xfrm>
          <a:prstGeom prst="rect">
            <a:avLst/>
          </a:prstGeom>
          <a:solidFill>
            <a:srgbClr val="0C9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3447288"/>
            <a:ext cx="27432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</a:rPr>
              <a:t>stateless 화면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447288"/>
            <a:ext cx="66751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C9D6EE"/>
                </a:solidFill>
                <a:latin typeface="맑은 고딕"/>
              </a:rPr>
              <a:t>UI 테스트에서 DI 를 걷어낼 수 있다 — Hilt 테스트 장치가 사라진다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4114800"/>
            <a:ext cx="10058400" cy="658368"/>
          </a:xfrm>
          <a:prstGeom prst="rect">
            <a:avLst/>
          </a:prstGeom>
          <a:solidFill>
            <a:srgbClr val="16294C"/>
          </a:solidFill>
          <a:ln w="15240">
            <a:solidFill>
              <a:srgbClr val="149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97280" y="4114800"/>
            <a:ext cx="109728" cy="658368"/>
          </a:xfrm>
          <a:prstGeom prst="rect">
            <a:avLst/>
          </a:prstGeom>
          <a:solidFill>
            <a:srgbClr val="149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17320" y="4178808"/>
            <a:ext cx="27432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</a:rPr>
              <a:t>E2E 는 개발 단계에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178808"/>
            <a:ext cx="66751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C9D6EE"/>
                </a:solidFill>
                <a:latin typeface="맑은 고딕"/>
              </a:rPr>
              <a:t>testTag 와 testTagsAsResourceId 가 전제 조건이다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7280" y="4846320"/>
            <a:ext cx="10058400" cy="658368"/>
          </a:xfrm>
          <a:prstGeom prst="rect">
            <a:avLst/>
          </a:prstGeom>
          <a:solidFill>
            <a:srgbClr val="16294C"/>
          </a:solidFill>
          <a:ln w="15240">
            <a:solidFill>
              <a:srgbClr val="E051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97280" y="4846320"/>
            <a:ext cx="109728" cy="658368"/>
          </a:xfrm>
          <a:prstGeom prst="rect">
            <a:avLst/>
          </a:prstGeom>
          <a:solidFill>
            <a:srgbClr val="E05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17320" y="4910328"/>
            <a:ext cx="27432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</a:rPr>
              <a:t>아티팩트 인계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4910328"/>
            <a:ext cx="66751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C9D6EE"/>
                </a:solidFill>
                <a:latin typeface="맑은 고딕"/>
              </a:rPr>
              <a:t>E2E 가 빌드 산출물을 받아 써서 빌드 실패와 환경 실패를 분리한다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97280" y="5577840"/>
            <a:ext cx="10058400" cy="658368"/>
          </a:xfrm>
          <a:prstGeom prst="rect">
            <a:avLst/>
          </a:prstGeom>
          <a:solidFill>
            <a:srgbClr val="16294C"/>
          </a:solidFill>
          <a:ln w="15240">
            <a:solidFill>
              <a:srgbClr val="2F5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97280" y="5577840"/>
            <a:ext cx="109728" cy="658368"/>
          </a:xfrm>
          <a:prstGeom prst="rect">
            <a:avLst/>
          </a:prstGeom>
          <a:solidFill>
            <a:srgbClr val="2F5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7320" y="5641848"/>
            <a:ext cx="27432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</a:rPr>
              <a:t>태그 하나로 CD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5641848"/>
            <a:ext cx="66751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C9D6EE"/>
                </a:solidFill>
                <a:latin typeface="맑은 고딕"/>
              </a:rPr>
              <a:t>버전 가드 · 서명 · 게시 자동화, 시크릿이 없으면 우아하게 물러난다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635508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6677"/>
                </a:solidFill>
                <a:latin typeface="맑은 고딕"/>
              </a:rPr>
              <a:t>ci-cd-sample · v0.1.0 · 2026-07-26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9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118872" cy="530352"/>
          </a:xfrm>
          <a:prstGeom prst="rect">
            <a:avLst/>
          </a:prstGeom>
          <a:solidFill>
            <a:srgbClr val="149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"/>
            <a:ext cx="105156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8FA6CF"/>
                </a:solidFill>
                <a:latin typeface="맑은 고딕"/>
              </a:rPr>
              <a:t>REVISION HISTORY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38912"/>
            <a:ext cx="107899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FFFFFF"/>
                </a:solidFill>
                <a:latin typeface="맑은 고딕"/>
              </a:rPr>
              <a:t>문서 변경 이력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80160"/>
            <a:ext cx="106070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677"/>
                </a:solidFill>
                <a:latin typeface="맑은 고딕"/>
              </a:rPr>
              <a:t>프로젝트 버전별 변경 요약.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744200" cy="420624"/>
          </a:xfrm>
          <a:prstGeom prst="rect">
            <a:avLst/>
          </a:prstGeom>
          <a:solidFill>
            <a:srgbClr val="1A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847088"/>
            <a:ext cx="11430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버전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12848" y="1847088"/>
            <a:ext cx="123444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날짜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0168" y="1847088"/>
            <a:ext cx="82296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유형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8" y="1847088"/>
            <a:ext cx="681228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변경 내용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03704"/>
            <a:ext cx="10744200" cy="534924"/>
          </a:xfrm>
          <a:prstGeom prst="rect">
            <a:avLst/>
          </a:prstGeom>
          <a:solidFill>
            <a:srgbClr val="E8F4EE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267712"/>
            <a:ext cx="1143000" cy="4434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A2333"/>
                </a:solidFill>
                <a:latin typeface="Consolas"/>
              </a:rPr>
              <a:t>v0.1.0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12848" y="2267712"/>
            <a:ext cx="1234440" cy="4434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6677"/>
                </a:solidFill>
                <a:latin typeface="Consolas"/>
              </a:rPr>
              <a:t>2026-07-26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30168" y="2322576"/>
            <a:ext cx="749808" cy="297179"/>
          </a:xfrm>
          <a:prstGeom prst="rect">
            <a:avLst/>
          </a:prstGeom>
          <a:solidFill>
            <a:srgbClr val="2F5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init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8" y="2267712"/>
            <a:ext cx="6812280" cy="4434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A2333"/>
                </a:solidFill>
                <a:latin typeface="맑은 고딕"/>
              </a:rPr>
              <a:t>3계층 샘플 앱, 3단 테스트, CI/CD 파이프라인 최초 정리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473952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677"/>
                </a:solidFill>
                <a:latin typeface="맑은 고딕"/>
              </a:rPr>
              <a:t>ci-cd-sample · 아키텍처 분석 보고서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5B6677"/>
                </a:solidFill>
                <a:latin typeface="맑은 고딕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