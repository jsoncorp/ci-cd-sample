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03920" y="-1097280"/>
            <a:ext cx="4572000" cy="4572000"/>
          </a:xfrm>
          <a:prstGeom prst="ellipse">
            <a:avLst/>
          </a:prstGeom>
          <a:solidFill>
            <a:srgbClr val="16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3291840"/>
            <a:ext cx="3657600" cy="3657600"/>
          </a:xfrm>
          <a:prstGeom prst="ellipse">
            <a:avLst/>
          </a:prstGeom>
          <a:solidFill>
            <a:srgbClr val="13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60120"/>
            <a:ext cx="146304" cy="137160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91440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C97B8"/>
                </a:solidFill>
                <a:latin typeface="맑은 고딕"/>
              </a:rPr>
              <a:t>ARCHITECTURE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100584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ci-cd-sample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9D6EE"/>
                </a:solidFill>
                <a:latin typeface="맑은 고딕"/>
              </a:rPr>
              <a:t>안드로이드 3계층 + CI/CD 레퍼런스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611880"/>
            <a:ext cx="3291840" cy="1417320"/>
          </a:xfrm>
          <a:prstGeom prst="rect">
            <a:avLst/>
          </a:prstGeom>
          <a:solidFill>
            <a:srgbClr val="172A4E"/>
          </a:solidFill>
          <a:ln w="19050">
            <a:solidFill>
              <a:srgbClr val="2F5BEA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611880"/>
            <a:ext cx="3291840" cy="9144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82219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:app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422452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F5BEA"/>
                </a:solidFill>
                <a:latin typeface="맑은 고딕"/>
              </a:rPr>
              <a:t>UI 계층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459028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2D4"/>
                </a:solidFill>
                <a:latin typeface="맑은 고딕"/>
              </a:rPr>
              <a:t>Compose · ViewModel · Hilt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3611880"/>
            <a:ext cx="3291840" cy="1417320"/>
          </a:xfrm>
          <a:prstGeom prst="rect">
            <a:avLst/>
          </a:prstGeom>
          <a:solidFill>
            <a:srgbClr val="172A4E"/>
          </a:solidFill>
          <a:ln w="19050">
            <a:solidFill>
              <a:srgbClr val="0C97B8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3611880"/>
            <a:ext cx="3291840" cy="91440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3752" y="382219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:data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2" y="422452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49C4E0"/>
                </a:solidFill>
                <a:latin typeface="맑은 고딕"/>
              </a:rPr>
              <a:t>데이터 계층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459028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2D4"/>
                </a:solidFill>
                <a:latin typeface="맑은 고딕"/>
              </a:rPr>
              <a:t>Repository 구현 · DataSource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611880"/>
            <a:ext cx="3291840" cy="1417320"/>
          </a:xfrm>
          <a:prstGeom prst="rect">
            <a:avLst/>
          </a:prstGeom>
          <a:solidFill>
            <a:srgbClr val="172A4E"/>
          </a:solidFill>
          <a:ln w="19050">
            <a:solidFill>
              <a:srgbClr val="7A5AF8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3611880"/>
            <a:ext cx="3291840" cy="91440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382219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:domain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422452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A5AF8"/>
                </a:solidFill>
                <a:latin typeface="맑은 고딕"/>
              </a:rPr>
              <a:t>도메인 계층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459028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9FB2D4"/>
                </a:solidFill>
                <a:latin typeface="맑은 고딕"/>
              </a:rPr>
              <a:t>순수 Kotlin · UseCase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623620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2026-07-26 · v0.1.1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SYSTEM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01. 시스템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B6677"/>
                </a:solidFill>
                <a:latin typeface="맑은 고딕"/>
              </a:rPr>
              <a:t>할 일 관리 앱을 공식 3계층 + Hilt DI 로 만들고 그 위에 GitHub Actions CI/CD 를 올린 레퍼런스 저장소. 증명하려는 명제는 하나 — 파이프라인의 품질은 워크플로 YAML 이 아니라 앱 구조가 결정한다.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3493008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3493008" cy="566928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40280"/>
            <a:ext cx="30175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:app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A2333"/>
                </a:solidFill>
                <a:latin typeface="맑은 고딕"/>
              </a:rPr>
              <a:t>UI 계층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3374136"/>
            <a:ext cx="73152" cy="73152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27355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Compose 화면과 상태 조립</a:t>
            </a:r>
          </a:p>
        </p:txBody>
      </p:sp>
      <p:sp>
        <p:nvSpPr>
          <p:cNvPr id="14" name="Oval 13"/>
          <p:cNvSpPr/>
          <p:nvPr/>
        </p:nvSpPr>
        <p:spPr>
          <a:xfrm>
            <a:off x="1051560" y="3877056"/>
            <a:ext cx="73152" cy="73152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377647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stateless TaskScreen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" y="4379976"/>
            <a:ext cx="73152" cy="73152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52728" y="427939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Hilt 그래프 시작점</a:t>
            </a:r>
          </a:p>
        </p:txBody>
      </p:sp>
      <p:sp>
        <p:nvSpPr>
          <p:cNvPr id="18" name="Oval 17"/>
          <p:cNvSpPr/>
          <p:nvPr/>
        </p:nvSpPr>
        <p:spPr>
          <a:xfrm>
            <a:off x="1051560" y="4882896"/>
            <a:ext cx="73152" cy="73152"/>
          </a:xfrm>
          <a:prstGeom prst="ellipse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2728" y="478231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testTag → resource-id 노출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3127" y="2148840"/>
            <a:ext cx="3493008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53127" y="2148840"/>
            <a:ext cx="3493008" cy="566928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7" y="2240280"/>
            <a:ext cx="30175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:data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7" y="2816352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A2333"/>
                </a:solidFill>
                <a:latin typeface="맑은 고딕"/>
              </a:rPr>
              <a:t>데이터 계층</a:t>
            </a:r>
          </a:p>
        </p:txBody>
      </p:sp>
      <p:sp>
        <p:nvSpPr>
          <p:cNvPr id="24" name="Oval 23"/>
          <p:cNvSpPr/>
          <p:nvPr/>
        </p:nvSpPr>
        <p:spPr>
          <a:xfrm>
            <a:off x="4727447" y="3374136"/>
            <a:ext cx="73152" cy="73152"/>
          </a:xfrm>
          <a:prstGeom prst="ellipse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28615" y="327355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TaskRepository 구현</a:t>
            </a:r>
          </a:p>
        </p:txBody>
      </p:sp>
      <p:sp>
        <p:nvSpPr>
          <p:cNvPr id="26" name="Oval 25"/>
          <p:cNvSpPr/>
          <p:nvPr/>
        </p:nvSpPr>
        <p:spPr>
          <a:xfrm>
            <a:off x="4727447" y="3877056"/>
            <a:ext cx="73152" cy="73152"/>
          </a:xfrm>
          <a:prstGeom prst="ellipse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28615" y="377647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InMemory DataSource</a:t>
            </a:r>
          </a:p>
        </p:txBody>
      </p:sp>
      <p:sp>
        <p:nvSpPr>
          <p:cNvPr id="28" name="Oval 27"/>
          <p:cNvSpPr/>
          <p:nvPr/>
        </p:nvSpPr>
        <p:spPr>
          <a:xfrm>
            <a:off x="4727447" y="4379976"/>
            <a:ext cx="73152" cy="73152"/>
          </a:xfrm>
          <a:prstGeom prst="ellipse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8615" y="427939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Mutex 로 쓰기 직렬화</a:t>
            </a:r>
          </a:p>
        </p:txBody>
      </p:sp>
      <p:sp>
        <p:nvSpPr>
          <p:cNvPr id="30" name="Oval 29"/>
          <p:cNvSpPr/>
          <p:nvPr/>
        </p:nvSpPr>
        <p:spPr>
          <a:xfrm>
            <a:off x="4727447" y="4882896"/>
            <a:ext cx="73152" cy="73152"/>
          </a:xfrm>
          <a:prstGeom prst="ellipse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28615" y="478231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@Binds 로 인터페이스 연결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29015" y="2148840"/>
            <a:ext cx="3493008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29015" y="2148840"/>
            <a:ext cx="3493008" cy="566928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6" y="2240280"/>
            <a:ext cx="301752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onsolas"/>
              </a:rPr>
              <a:t>:domain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3336" y="2816352"/>
            <a:ext cx="3017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A2333"/>
                </a:solidFill>
                <a:latin typeface="맑은 고딕"/>
              </a:rPr>
              <a:t>도메인 계층</a:t>
            </a:r>
          </a:p>
        </p:txBody>
      </p:sp>
      <p:sp>
        <p:nvSpPr>
          <p:cNvPr id="36" name="Oval 35"/>
          <p:cNvSpPr/>
          <p:nvPr/>
        </p:nvSpPr>
        <p:spPr>
          <a:xfrm>
            <a:off x="8403336" y="3374136"/>
            <a:ext cx="73152" cy="73152"/>
          </a:xfrm>
          <a:prstGeom prst="ellipse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04503" y="327355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순수 Kotlin(JVM) 모듈</a:t>
            </a:r>
          </a:p>
        </p:txBody>
      </p:sp>
      <p:sp>
        <p:nvSpPr>
          <p:cNvPr id="38" name="Oval 37"/>
          <p:cNvSpPr/>
          <p:nvPr/>
        </p:nvSpPr>
        <p:spPr>
          <a:xfrm>
            <a:off x="8403336" y="3877056"/>
            <a:ext cx="73152" cy="73152"/>
          </a:xfrm>
          <a:prstGeom prst="ellipse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4503" y="377647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모델 · 저장소 인터페이스</a:t>
            </a:r>
          </a:p>
        </p:txBody>
      </p:sp>
      <p:sp>
        <p:nvSpPr>
          <p:cNvPr id="40" name="Oval 39"/>
          <p:cNvSpPr/>
          <p:nvPr/>
        </p:nvSpPr>
        <p:spPr>
          <a:xfrm>
            <a:off x="8403336" y="4379976"/>
            <a:ext cx="73152" cy="73152"/>
          </a:xfrm>
          <a:prstGeom prst="ellipse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4503" y="427939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UseCase 6개 (규칙 집중)</a:t>
            </a:r>
          </a:p>
        </p:txBody>
      </p:sp>
      <p:sp>
        <p:nvSpPr>
          <p:cNvPr id="42" name="Oval 41"/>
          <p:cNvSpPr/>
          <p:nvPr/>
        </p:nvSpPr>
        <p:spPr>
          <a:xfrm>
            <a:off x="8403336" y="4882896"/>
            <a:ext cx="73152" cy="73152"/>
          </a:xfrm>
          <a:prstGeom prst="ellipse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04503" y="4782312"/>
            <a:ext cx="28346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7"/>
                </a:solidFill>
                <a:latin typeface="맑은 고딕"/>
              </a:rPr>
              <a:t>Android · DI 무의존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02. 전체 아키텍처 — 의존 방향은 한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계층 위반은 리뷰가 아니라 컴파일 에러로 막힌다. :domain 은 아무것도 의존하지 않는다.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874519"/>
            <a:ext cx="5669280" cy="114300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:app  (Android Application)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MainActivity · TaskRoute · TaskScreen · TaskViewModel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703320"/>
            <a:ext cx="4206240" cy="1325880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:data  (Android Library)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DefaultTaskRepository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InMemoryTaskDataSource · DataModule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3703320"/>
            <a:ext cx="4206240" cy="1325880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:domain  (순수 Kotlin JVM)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Task · TaskStats · TaskRepository(interface)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UseCase × 6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154680" y="3017520"/>
            <a:ext cx="1600200" cy="68580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06640" y="3017520"/>
            <a:ext cx="1600200" cy="68580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57800" y="4370832"/>
            <a:ext cx="164592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A2333"/>
                </a:solidFill>
                <a:latin typeface="맑은 고딕"/>
              </a:rPr>
              <a:t>:domain 의 외부 의존은 coroutines-core 와 javax.inject 뿐 → ./gradlew :domain:test 가 AGP 없이 JVM 에서 0.4초에 끝난다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COMPONENTS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03. 계층별 상세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모듈별 주요 타입과 책임, 그리고 어떤 테스트가 지키는지.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744200" cy="402336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47088"/>
            <a:ext cx="1051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모듈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1847088"/>
            <a:ext cx="30632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주요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1847088"/>
            <a:ext cx="40233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책임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73767" y="1847088"/>
            <a:ext cx="187451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테스트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85416"/>
            <a:ext cx="10744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49424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2249424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Task · Priority · TaskStats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2249424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불변 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3767" y="2249424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587752"/>
            <a:ext cx="10744200" cy="402336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651760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2651760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TaskRepository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2651760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저장소 계약(인터페이스)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7" y="2651760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페이크로 대체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90088"/>
            <a:ext cx="10744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054096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domain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3054096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UseCase ×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3054096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검증 · 정렬 · 집계 규칙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73767" y="3054096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단위 28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392424"/>
            <a:ext cx="10744200" cy="402336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" y="3456432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domain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1408" y="3456432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FakeTaskRepository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56432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testFixtures 로 모듈 간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7" y="3456432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794760"/>
            <a:ext cx="10744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3858768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1408" y="3858768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InMemoryTaskDataSource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3858768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id/order 발급, Mutex 직렬화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7" y="3858768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단위 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197096"/>
            <a:ext cx="10744200" cy="402336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968" y="4261104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21408" y="4261104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DefaultTaskRepository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4261104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인터페이스 구현(위임)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3767" y="4261104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단위 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599432"/>
            <a:ext cx="10744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6968" y="4663440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21408" y="4663440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DataModule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8" y="4663440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@Binds 인터페이스↔구현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73767" y="4663440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5001768"/>
            <a:ext cx="10744200" cy="402336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" y="5065776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app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21408" y="5065776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TaskViewModel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67528" y="5065776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상태 조립, 에러 문구 변환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73767" y="5065776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단위 10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404104"/>
            <a:ext cx="10744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6968" y="5468112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app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21408" y="5468112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TaskScreen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67528" y="5468112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stateless 렌더링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73767" y="5468112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Compose UI 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7240" y="5806440"/>
            <a:ext cx="10744200" cy="402336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6968" y="5870448"/>
            <a:ext cx="10515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app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21408" y="5870448"/>
            <a:ext cx="306323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MainActivity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67528" y="5870448"/>
            <a:ext cx="402335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testTagsAsResourceId = 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73767" y="5870448"/>
            <a:ext cx="1874519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E2E 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DEPENDENCY INJECTION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04. DI 구성 — Hilt 2.53.1 + KSP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:domain 은 DI 프레임워크를 모른다. 생성자 주입(JSR-330 @Inject)만 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512064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0C97B8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74519"/>
            <a:ext cx="5120640" cy="457200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47672"/>
            <a:ext cx="4572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SingletonComponent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514600"/>
            <a:ext cx="4572000" cy="566928"/>
          </a:xfrm>
          <a:prstGeom prst="rect">
            <a:avLst/>
          </a:prstGeom>
          <a:solidFill>
            <a:srgbClr val="EEF2FA"/>
          </a:solidFill>
          <a:ln w="9525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A2333"/>
                </a:solidFill>
                <a:latin typeface="맑은 고딕"/>
              </a:rPr>
              <a:t>DataModule  @Binds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172968"/>
            <a:ext cx="4572000" cy="566928"/>
          </a:xfrm>
          <a:prstGeom prst="rect">
            <a:avLst/>
          </a:prstGeom>
          <a:solidFill>
            <a:srgbClr val="EEF2FA"/>
          </a:solidFill>
          <a:ln w="9525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TaskRepository ◀── DefaultTaskRepository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831336"/>
            <a:ext cx="4572000" cy="566928"/>
          </a:xfrm>
          <a:prstGeom prst="rect">
            <a:avLst/>
          </a:prstGeom>
          <a:solidFill>
            <a:srgbClr val="EEF2FA"/>
          </a:solidFill>
          <a:ln w="9525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InMemoryTaskDataSource  @Singleton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874519"/>
            <a:ext cx="502920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5BEA"/>
            </a:solidFill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874519"/>
            <a:ext cx="5029200" cy="45720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947672"/>
            <a:ext cx="4480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ViewModelComponent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2514600"/>
            <a:ext cx="4480560" cy="566928"/>
          </a:xfrm>
          <a:prstGeom prst="rect">
            <a:avLst/>
          </a:prstGeom>
          <a:solidFill>
            <a:srgbClr val="EEF2FA"/>
          </a:solidFill>
          <a:ln w="9525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1A2333"/>
                </a:solidFill>
                <a:latin typeface="맑은 고딕"/>
              </a:rPr>
              <a:t>TaskViewModel  @HiltViewModel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3172968"/>
            <a:ext cx="4480560" cy="1225296"/>
          </a:xfrm>
          <a:prstGeom prst="rect">
            <a:avLst/>
          </a:prstGeom>
          <a:solidFill>
            <a:srgbClr val="EEF2FA"/>
          </a:solidFill>
          <a:ln w="9525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UseCase × 6</a:t>
            </a:r>
          </a:p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@Inject constructor</a:t>
            </a:r>
          </a:p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(모듈 선언 불필요)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97880" y="3200400"/>
            <a:ext cx="45720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77240" y="4800600"/>
            <a:ext cx="340156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@HiltAndroidApp</a:t>
            </a:r>
          </a:p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CicdSampleApp — 그래프 시작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1688" y="4800600"/>
            <a:ext cx="340156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@AndroidEntryPoint</a:t>
            </a:r>
          </a:p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MainActivity — 주입 대상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46136" y="4800600"/>
            <a:ext cx="340156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hiltViewModel()</a:t>
            </a:r>
          </a:p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TaskRoute — 화면에 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DOMAIN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05. 도메인 규칙 — 분기가 있어야 테스트가 의미를 갖는다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정렬은 미완료 먼저 → 우선순위 높은 순 → 먼저 등록한 순. 중복은 대소문자·연속 공백을 무시한다.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744200" cy="420624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47088"/>
            <a:ext cx="26060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유스케이스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7" y="1847088"/>
            <a:ext cx="14173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088" y="1847088"/>
            <a:ext cx="37947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분기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3728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03704"/>
            <a:ext cx="10744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67712"/>
            <a:ext cx="260603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AddTaskUseCase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267712"/>
            <a:ext cx="14173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제목·우선순위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8" y="2267712"/>
            <a:ext cx="379475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공백 / 2자 미만 / 40자 초과 / 중복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267712"/>
            <a:ext cx="21945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Result&lt;Task&gt;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624328"/>
            <a:ext cx="10744200" cy="420624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688336"/>
            <a:ext cx="260603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ObserveTasksUseCase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7" y="2688336"/>
            <a:ext cx="14173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필터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6088" y="2688336"/>
            <a:ext cx="379475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ALL / ACTIVE /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728" y="2688336"/>
            <a:ext cx="21945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Flow&lt;List&lt;Task&gt;&gt;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044952"/>
            <a:ext cx="10744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108960"/>
            <a:ext cx="260603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ToggleTaskUseCase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5887" y="3108960"/>
            <a:ext cx="14173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108960"/>
            <a:ext cx="379475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없는 id / 갱신 실패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108960"/>
            <a:ext cx="21945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Result&lt;Boolean&gt;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65576"/>
            <a:ext cx="10744200" cy="420624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" y="3529584"/>
            <a:ext cx="260603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DeleteTaskUseCase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5887" y="3529584"/>
            <a:ext cx="14173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76088" y="3529584"/>
            <a:ext cx="379475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없는 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3529584"/>
            <a:ext cx="21945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Result&lt;Unit&gt;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886200"/>
            <a:ext cx="10744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3950208"/>
            <a:ext cx="260603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ClearCompletedUseCase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5887" y="3950208"/>
            <a:ext cx="14173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6088" y="3950208"/>
            <a:ext cx="379475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지울 게 없으면 0 (실패 아님)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3950208"/>
            <a:ext cx="21945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Int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306824"/>
            <a:ext cx="10744200" cy="420624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968" y="4370832"/>
            <a:ext cx="260603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GetTaskStatsUseCase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75887" y="4370832"/>
            <a:ext cx="14173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6088" y="4370832"/>
            <a:ext cx="379475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전체 0건 → 0으로 나누지 않음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53728" y="4370832"/>
            <a:ext cx="21945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Flow&lt;TaskStats&gt;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06. 단방향 데이터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이벤트는 위로, 상태는 아래로. TaskScreen 은 콜백만 호출하고 상태를 만들지 않는다.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1371600" cy="457200"/>
          </a:xfrm>
          <a:prstGeom prst="rect">
            <a:avLst/>
          </a:prstGeom>
          <a:solidFill>
            <a:srgbClr val="5B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사용자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43000" y="2286000"/>
            <a:ext cx="0" cy="3063240"/>
          </a:xfrm>
          <a:prstGeom prst="bentConnector3">
            <a:avLst/>
          </a:prstGeom>
          <a:ln w="15875">
            <a:solidFill>
              <a:srgbClr val="D3DA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743200" y="1828800"/>
            <a:ext cx="1828800" cy="45720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TaskScreen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2286000"/>
            <a:ext cx="0" cy="3063240"/>
          </a:xfrm>
          <a:prstGeom prst="bentConnector3">
            <a:avLst/>
          </a:prstGeom>
          <a:ln w="15875">
            <a:solidFill>
              <a:srgbClr val="D3DA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0640" y="1828800"/>
            <a:ext cx="1828800" cy="45720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TaskViewModel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86000"/>
            <a:ext cx="0" cy="3063240"/>
          </a:xfrm>
          <a:prstGeom prst="bentConnector3">
            <a:avLst/>
          </a:prstGeom>
          <a:ln w="15875">
            <a:solidFill>
              <a:srgbClr val="D3DA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98079" y="1828800"/>
            <a:ext cx="1828800" cy="457200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UseCase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183879" y="2286000"/>
            <a:ext cx="0" cy="3063240"/>
          </a:xfrm>
          <a:prstGeom prst="bentConnector3">
            <a:avLst/>
          </a:prstGeom>
          <a:ln w="15875">
            <a:solidFill>
              <a:srgbClr val="D3DA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01200" y="1828800"/>
            <a:ext cx="1828800" cy="457200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Repository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87000" y="2286000"/>
            <a:ext cx="0" cy="3063240"/>
          </a:xfrm>
          <a:prstGeom prst="bentConnector3">
            <a:avLst/>
          </a:prstGeom>
          <a:ln w="15875">
            <a:solidFill>
              <a:srgbClr val="D3DA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43000" y="2606040"/>
            <a:ext cx="2103120" cy="0"/>
          </a:xfrm>
          <a:prstGeom prst="bentConnector3">
            <a:avLst/>
          </a:prstGeom>
          <a:ln w="22225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34440" y="2295144"/>
            <a:ext cx="2103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A2333"/>
                </a:solidFill>
                <a:latin typeface="Consolas"/>
              </a:rPr>
              <a:t>탭 / 입력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29000" y="3063240"/>
            <a:ext cx="2377440" cy="0"/>
          </a:xfrm>
          <a:prstGeom prst="bentConnector3">
            <a:avLst/>
          </a:prstGeom>
          <a:ln w="22225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520440" y="2752344"/>
            <a:ext cx="237743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A2333"/>
                </a:solidFill>
                <a:latin typeface="Consolas"/>
              </a:rPr>
              <a:t>onAddClick()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06440" y="3520440"/>
            <a:ext cx="2377439" cy="0"/>
          </a:xfrm>
          <a:prstGeom prst="bentConnector3">
            <a:avLst/>
          </a:prstGeom>
          <a:ln w="22225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97879" y="3209544"/>
            <a:ext cx="237743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A2333"/>
                </a:solidFill>
                <a:latin typeface="Consolas"/>
              </a:rPr>
              <a:t>invoke()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83879" y="3977639"/>
            <a:ext cx="2103121" cy="0"/>
          </a:xfrm>
          <a:prstGeom prst="bentConnector3">
            <a:avLst/>
          </a:prstGeom>
          <a:ln w="22225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75319" y="3666744"/>
            <a:ext cx="2103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A2333"/>
                </a:solidFill>
                <a:latin typeface="Consolas"/>
              </a:rPr>
              <a:t>addTask()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806440" y="4617720"/>
            <a:ext cx="4480560" cy="0"/>
          </a:xfrm>
          <a:prstGeom prst="bentConnector3">
            <a:avLst/>
          </a:prstGeom>
          <a:ln w="25400">
            <a:solidFill>
              <a:srgbClr val="0C97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0" y="4306824"/>
            <a:ext cx="3840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C97B8"/>
                </a:solidFill>
                <a:latin typeface="Consolas"/>
              </a:rPr>
              <a:t>Flow&lt;List&lt;Task&gt;&gt; 재방출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429000" y="5074920"/>
            <a:ext cx="2377440" cy="0"/>
          </a:xfrm>
          <a:prstGeom prst="bentConnector3">
            <a:avLst/>
          </a:prstGeom>
          <a:ln w="25400">
            <a:solidFill>
              <a:srgbClr val="2F5BE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57600" y="4764024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F5BEA"/>
                </a:solidFill>
                <a:latin typeface="Consolas"/>
              </a:rPr>
              <a:t>StateFlow&lt;UiState&gt;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A2333"/>
                </a:solidFill>
                <a:latin typeface="맑은 고딕"/>
              </a:rPr>
              <a:t>uiState = combine(filter, 목록, 통계, 입력 폼)  ·  SharingStarted.WhileSubscribed(5초)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TEST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07. 3단 테스트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빠르고 많은 테스트를 아래에, 느리고 적은 테스트를 위에. 실측값 기준.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744200" cy="475488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47088"/>
            <a:ext cx="17373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티어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8" y="1847088"/>
            <a:ext cx="25603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408" y="1847088"/>
            <a:ext cx="685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개수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실행 환경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7" y="1847088"/>
            <a:ext cx="17373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잡는 결함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1007" y="1847088"/>
            <a:ext cx="10972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실측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10744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322575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단위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8" y="2322575"/>
            <a:ext cx="25603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domain/src/test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0408" y="2322575"/>
            <a:ext cx="685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322575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JVM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322575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검증·정렬·집계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51007" y="2322575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0.4초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2734056"/>
            <a:ext cx="10744200" cy="475488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2798063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단위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7208" y="2798063"/>
            <a:ext cx="25603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data/src/test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2798063"/>
            <a:ext cx="685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98063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JVM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0767" y="2798063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id 발급·Flow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51007" y="2798063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1초 미만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209544"/>
            <a:ext cx="10744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3273551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단위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7208" y="3273551"/>
            <a:ext cx="25603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app/src/test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408" y="3273551"/>
            <a:ext cx="685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273551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JVM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7" y="3273551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상태 조립·문구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51007" y="3273551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1초 미만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3685031"/>
            <a:ext cx="10744200" cy="475488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" y="3749039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Compose UI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7208" y="3749039"/>
            <a:ext cx="25603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app/src/androidTest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0408" y="3749039"/>
            <a:ext cx="685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749039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기기/에뮬레이터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7" y="3749039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렌더링·배선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7" y="3749039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2분 36초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160519"/>
            <a:ext cx="10744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6968" y="4224527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E2E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7208" y="4224527"/>
            <a:ext cx="25603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.maestro/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50408" y="4224527"/>
            <a:ext cx="685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4224527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기기/에뮬레이터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30767" y="4224527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앱 전체 흐름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51007" y="4224527"/>
            <a:ext cx="10972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1분 57초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CI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08. CI 파이프라인 — 잡을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E2E 는 APK 를 다시 빌드하지 않는다. build 잡의 아티팩트를 받아 설치한다.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2148840" cy="868680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PR / push(main)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수동 실행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1783080"/>
            <a:ext cx="3063240" cy="960120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unit-test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단위 44 + 린트 · 1분 10초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3017520"/>
            <a:ext cx="3063240" cy="96012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assembleDebug · 57초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3017520"/>
            <a:ext cx="3566160" cy="960120"/>
          </a:xfrm>
          <a:prstGeom prst="rect">
            <a:avLst/>
          </a:prstGeom>
          <a:solidFill>
            <a:srgbClr val="E0512E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e2e   needs: build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에뮬레이터 + Maestro · 4분 35초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267712"/>
            <a:ext cx="77724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26080" y="3502152"/>
            <a:ext cx="77724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66560" y="3502152"/>
            <a:ext cx="105156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720840" y="3127248"/>
            <a:ext cx="11887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7"/>
                </a:solidFill>
                <a:latin typeface="Consolas"/>
              </a:rPr>
              <a:t>APK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1417320"/>
            <a:ext cx="30632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1389888"/>
            <a:ext cx="3063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49A6B"/>
                </a:solidFill>
                <a:latin typeface="맑은 고딕"/>
              </a:rPr>
              <a:t>두 잡은 병렬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480560"/>
            <a:ext cx="25603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F5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test / lint 리포트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2152" y="4480560"/>
            <a:ext cx="25603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C9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app-debug.apk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7064" y="4480560"/>
            <a:ext cx="25603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051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maestro-report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51976" y="4480560"/>
            <a:ext cx="25603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7A5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A2333"/>
                </a:solidFill>
                <a:latin typeface="맑은 고딕"/>
              </a:rPr>
              <a:t>실패 시 PR 코멘트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532120"/>
            <a:ext cx="10607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A2333"/>
                </a:solidFill>
                <a:latin typeface="맑은 고딕"/>
              </a:rPr>
              <a:t>concurrency 취소 · Gradle 캐시(setup-gradle) · AVD 스냅샷 캐시 · paths-ignore 는 push 에만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05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E05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CD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09. CD 파이프라인 — 태그 하나로 서명 릴리스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공개 저장소이므로 시크릿이 없는 포크에서도 통과해야 한다 — 서명을 건너뛰고 unsigned 로 계속 진행한다.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1920240" cy="1463040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git tag v0.1.0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태그 push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834640"/>
            <a:ext cx="32004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17520" y="2103120"/>
            <a:ext cx="1920240" cy="1463040"/>
          </a:xfrm>
          <a:prstGeom prst="rect">
            <a:avLst/>
          </a:prstGeom>
          <a:solidFill>
            <a:srgbClr val="E0512E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버전 가드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태그 ↔ versionName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다르면 즉시 실패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37760" y="2834640"/>
            <a:ext cx="32004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257800" y="2103120"/>
            <a:ext cx="1920240" cy="1463040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키스토어 준비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base64 → runner.temp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없으면 서명 생략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78040" y="2834640"/>
            <a:ext cx="320039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98079" y="2103120"/>
            <a:ext cx="1920240" cy="146304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빌드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assembleRelease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bundleRelease (R8)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418319" y="2834640"/>
            <a:ext cx="320040" cy="0"/>
          </a:xfrm>
          <a:prstGeom prst="bentConnector3">
            <a:avLst/>
          </a:prstGeom>
          <a:ln w="25400">
            <a:solidFill>
              <a:srgbClr val="1A2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738359" y="2103120"/>
            <a:ext cx="1920240" cy="1463040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  <a:effectLst>
            <a:outerShdw blurRad="60000" dist="25000" dir="5400000" rotWithShape="0">
              <a:srgbClr val="1A23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게시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gh release create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--generate-notes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77639"/>
            <a:ext cx="10607040" cy="384048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4023359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시크릿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4023359"/>
            <a:ext cx="29260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7" y="4023359"/>
            <a:ext cx="3474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사용처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361688"/>
            <a:ext cx="106070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407407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ANDROID_KEYSTORE_BASE64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4407407"/>
            <a:ext cx="29260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키스토어 파일 base64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36408" y="4407407"/>
            <a:ext cx="3474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7"/>
                </a:solidFill>
                <a:latin typeface="맑은 고딕"/>
              </a:rPr>
              <a:t>잡 안에서 runner.temp 로 디코드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745736"/>
            <a:ext cx="10607040" cy="384048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791455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ANDROID_KEYSTORE_PASSWORD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791455"/>
            <a:ext cx="29260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스토어 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4791455"/>
            <a:ext cx="3474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7"/>
                </a:solidFill>
                <a:latin typeface="맑은 고딕"/>
              </a:rPr>
              <a:t>signingConfigs 환경변수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129783"/>
            <a:ext cx="106070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5175503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ANDROID_KEY_ALIAS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27448" y="5175503"/>
            <a:ext cx="29260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키 별칭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6408" y="5175503"/>
            <a:ext cx="3474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7"/>
                </a:solidFill>
                <a:latin typeface="맑은 고딕"/>
              </a:rPr>
              <a:t>signingConfigs 환경변수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513831"/>
            <a:ext cx="10607040" cy="384048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5559551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Consolas"/>
              </a:rPr>
              <a:t>ANDROID_KEY_PASSWORD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7448" y="5559551"/>
            <a:ext cx="29260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키 비밀번호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36408" y="5559551"/>
            <a:ext cx="3474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7"/>
                </a:solidFill>
                <a:latin typeface="맑은 고딕"/>
              </a:rPr>
              <a:t>signingConfigs 환경변수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10. 운영 · 확장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지금의 선택과 그 근거, 그리고 넓힐 방향.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744200" cy="420624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47088"/>
            <a:ext cx="17373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8" y="1847088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9048" y="1847088"/>
            <a:ext cx="53492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근거 / 확장 방향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203704"/>
            <a:ext cx="10744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267712"/>
            <a:ext cx="17373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영속화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267712"/>
            <a:ext cx="31089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메모리(MutableStateFlow)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8" y="2267712"/>
            <a:ext cx="53492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파이프라인이 주제라 Room 제외. 붙여도 인터페이스는 그대로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624328"/>
            <a:ext cx="10744200" cy="420624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688336"/>
            <a:ext cx="17373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정적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7208" y="2688336"/>
            <a:ext cx="31089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Android Lint (lintDebug)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8" y="2688336"/>
            <a:ext cx="53492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detekt/ktlint 는 플러그인 버전 리스크로 보류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044952"/>
            <a:ext cx="10744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108960"/>
            <a:ext cx="17373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캐시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3108960"/>
            <a:ext cx="31089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Gradle + AVD 스냅샷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3108960"/>
            <a:ext cx="53492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AVD 캐시 키를 API 레벨에 묶어 무효화 제어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465576"/>
            <a:ext cx="10744200" cy="420624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529584"/>
            <a:ext cx="17373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비용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7208" y="3529584"/>
            <a:ext cx="31089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공개 저장소 = Actions 무료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3529584"/>
            <a:ext cx="53492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concurrency 취소 + needs 로 낭비 차단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886200"/>
            <a:ext cx="10744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" y="3950208"/>
            <a:ext cx="17373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의존성 갱신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7208" y="3950208"/>
            <a:ext cx="31089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Dependabot 주간/월간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9048" y="3950208"/>
            <a:ext cx="53492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actions 4건 병합. gradle 5건은 compileSdk 37 요구로 보류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306824"/>
            <a:ext cx="10744200" cy="420624"/>
          </a:xfrm>
          <a:prstGeom prst="rect">
            <a:avLst/>
          </a:prstGeom>
          <a:solidFill>
            <a:srgbClr val="EEF2FA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4370832"/>
            <a:ext cx="17373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배포 확장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7208" y="4370832"/>
            <a:ext cx="310896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GitHub Releases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9048" y="4370832"/>
            <a:ext cx="53492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333"/>
                </a:solidFill>
                <a:latin typeface="맑은 고딕"/>
              </a:rPr>
              <a:t>Firebase App Distribution / Play Console 추가 가능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15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85800"/>
            <a:ext cx="146304" cy="914400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640080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C97B8"/>
                </a:solidFill>
                <a:latin typeface="맑은 고딕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맑은 고딕"/>
              </a:rPr>
              <a:t>11.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920240"/>
            <a:ext cx="10058400" cy="658368"/>
          </a:xfrm>
          <a:prstGeom prst="rect">
            <a:avLst/>
          </a:prstGeom>
          <a:solidFill>
            <a:srgbClr val="16294C"/>
          </a:solidFill>
          <a:ln w="15240">
            <a:solidFill>
              <a:srgbClr val="2F5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920240"/>
            <a:ext cx="109728" cy="658368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1984248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한 방향 의존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984248"/>
            <a:ext cx="6675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C9D6EE"/>
                </a:solidFill>
                <a:latin typeface="맑은 고딕"/>
              </a:rPr>
              <a:t>계층 위반을 컴파일러가 막는다 — 리뷰에 기대지 않는다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651760"/>
            <a:ext cx="10058400" cy="658368"/>
          </a:xfrm>
          <a:prstGeom prst="rect">
            <a:avLst/>
          </a:prstGeom>
          <a:solidFill>
            <a:srgbClr val="16294C"/>
          </a:solidFill>
          <a:ln w="15240">
            <a:solidFill>
              <a:srgbClr val="7A5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2651760"/>
            <a:ext cx="109728" cy="658368"/>
          </a:xfrm>
          <a:prstGeom prst="rect">
            <a:avLst/>
          </a:prstGeom>
          <a:solidFill>
            <a:srgbClr val="7A5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2715768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순수 JVM 도메인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715768"/>
            <a:ext cx="6675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C9D6EE"/>
                </a:solidFill>
                <a:latin typeface="맑은 고딕"/>
              </a:rPr>
              <a:t>단위 44개가 에뮬레이터 없이 초 단위로 끝난다 — CI 1층이 두꺼워진다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383280"/>
            <a:ext cx="10058400" cy="658368"/>
          </a:xfrm>
          <a:prstGeom prst="rect">
            <a:avLst/>
          </a:prstGeom>
          <a:solidFill>
            <a:srgbClr val="16294C"/>
          </a:solidFill>
          <a:ln w="15240">
            <a:solidFill>
              <a:srgbClr val="0C9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383280"/>
            <a:ext cx="109728" cy="658368"/>
          </a:xfrm>
          <a:prstGeom prst="rect">
            <a:avLst/>
          </a:prstGeom>
          <a:solidFill>
            <a:srgbClr val="0C9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3447288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stateless 화면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447288"/>
            <a:ext cx="6675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C9D6EE"/>
                </a:solidFill>
                <a:latin typeface="맑은 고딕"/>
              </a:rPr>
              <a:t>UI 테스트에서 DI 를 걷어낼 수 있다 — Hilt 테스트 장치가 사라진다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114800"/>
            <a:ext cx="10058400" cy="658368"/>
          </a:xfrm>
          <a:prstGeom prst="rect">
            <a:avLst/>
          </a:prstGeom>
          <a:solidFill>
            <a:srgbClr val="16294C"/>
          </a:solidFill>
          <a:ln w="15240">
            <a:solidFill>
              <a:srgbClr val="14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4114800"/>
            <a:ext cx="109728" cy="658368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178808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E2E 는 개발 단계에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78808"/>
            <a:ext cx="6675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C9D6EE"/>
                </a:solidFill>
                <a:latin typeface="맑은 고딕"/>
              </a:rPr>
              <a:t>testTag 와 testTagsAsResourceId 가 전제 조건이다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846320"/>
            <a:ext cx="10058400" cy="658368"/>
          </a:xfrm>
          <a:prstGeom prst="rect">
            <a:avLst/>
          </a:prstGeom>
          <a:solidFill>
            <a:srgbClr val="16294C"/>
          </a:solidFill>
          <a:ln w="15240">
            <a:solidFill>
              <a:srgbClr val="E051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4846320"/>
            <a:ext cx="109728" cy="658368"/>
          </a:xfrm>
          <a:prstGeom prst="rect">
            <a:avLst/>
          </a:prstGeom>
          <a:solidFill>
            <a:srgbClr val="E05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4910328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아티팩트 인계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910328"/>
            <a:ext cx="6675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C9D6EE"/>
                </a:solidFill>
                <a:latin typeface="맑은 고딕"/>
              </a:rPr>
              <a:t>E2E 가 빌드 산출물을 받아 써서 빌드 실패와 환경 실패를 분리한다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5577840"/>
            <a:ext cx="10058400" cy="658368"/>
          </a:xfrm>
          <a:prstGeom prst="rect">
            <a:avLst/>
          </a:prstGeom>
          <a:solidFill>
            <a:srgbClr val="16294C"/>
          </a:solidFill>
          <a:ln w="15240">
            <a:solidFill>
              <a:srgbClr val="2F5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" y="5577840"/>
            <a:ext cx="109728" cy="658368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7320" y="5641848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태그 하나로 CD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641848"/>
            <a:ext cx="6675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C9D6EE"/>
                </a:solidFill>
                <a:latin typeface="맑은 고딕"/>
              </a:rPr>
              <a:t>버전 가드 · 서명 · 게시 자동화, 시크릿이 없으면 우아하게 물러난다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63550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B6677"/>
                </a:solidFill>
                <a:latin typeface="맑은 고딕"/>
              </a:rPr>
              <a:t>ci-cd-sample · v0.1.1 · 2026-07-26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118872" cy="530352"/>
          </a:xfrm>
          <a:prstGeom prst="rect">
            <a:avLst/>
          </a:prstGeom>
          <a:solidFill>
            <a:srgbClr val="14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A6CF"/>
                </a:solidFill>
                <a:latin typeface="맑은 고딕"/>
              </a:rPr>
              <a:t>REVISION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맑은 고딕"/>
              </a:rPr>
              <a:t>문서 변경 이력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B6677"/>
                </a:solidFill>
                <a:latin typeface="맑은 고딕"/>
              </a:rPr>
              <a:t>프로젝트 버전별 변경 요약.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744200" cy="420624"/>
          </a:xfrm>
          <a:prstGeom prst="rect">
            <a:avLst/>
          </a:prstGeom>
          <a:solidFill>
            <a:srgbClr val="1A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47088"/>
            <a:ext cx="11430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버전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847088"/>
            <a:ext cx="12344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날짜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1847088"/>
            <a:ext cx="822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유형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1847088"/>
            <a:ext cx="68122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변경 내용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03704"/>
            <a:ext cx="10744200" cy="534924"/>
          </a:xfrm>
          <a:prstGeom prst="rect">
            <a:avLst/>
          </a:prstGeom>
          <a:solidFill>
            <a:srgbClr val="FFFFFF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67712"/>
            <a:ext cx="1143000" cy="4434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333"/>
                </a:solidFill>
                <a:latin typeface="Consolas"/>
              </a:rPr>
              <a:t>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2267712"/>
            <a:ext cx="1234440" cy="4434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7"/>
                </a:solidFill>
                <a:latin typeface="Consolas"/>
              </a:rPr>
              <a:t>2026-07-26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30168" y="2322576"/>
            <a:ext cx="749808" cy="297179"/>
          </a:xfrm>
          <a:prstGeom prst="rect">
            <a:avLst/>
          </a:prstGeom>
          <a:solidFill>
            <a:srgbClr val="2F5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init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267712"/>
            <a:ext cx="6812280" cy="4434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7"/>
                </a:solidFill>
                <a:latin typeface="맑은 고딕"/>
              </a:rPr>
              <a:t>3계층 샘플 앱, 3단 테스트, CI/CD 파이프라인 최초 정리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738628"/>
            <a:ext cx="10744200" cy="534924"/>
          </a:xfrm>
          <a:prstGeom prst="rect">
            <a:avLst/>
          </a:prstGeom>
          <a:solidFill>
            <a:srgbClr val="E8F4EE"/>
          </a:solidFill>
          <a:ln w="6350">
            <a:solidFill>
              <a:srgbClr val="D3D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802636"/>
            <a:ext cx="1143000" cy="4434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2333"/>
                </a:solidFill>
                <a:latin typeface="Consolas"/>
              </a:rPr>
              <a:t>v0.1.1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2802636"/>
            <a:ext cx="1234440" cy="4434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7"/>
                </a:solidFill>
                <a:latin typeface="Consolas"/>
              </a:rPr>
              <a:t>2026-07-26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0168" y="2857500"/>
            <a:ext cx="749808" cy="297179"/>
          </a:xfrm>
          <a:prstGeom prst="rect">
            <a:avLst/>
          </a:prstGeom>
          <a:solidFill>
            <a:srgbClr val="E05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2802636"/>
            <a:ext cx="6812280" cy="4434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A2333"/>
                </a:solidFill>
                <a:latin typeface="맑은 고딕"/>
              </a:rPr>
              <a:t>Actions 버전 4건 갱신(Node 20 경고 해소), CI 실측 시간 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7"/>
                </a:solidFill>
                <a:latin typeface="맑은 고딕"/>
              </a:rPr>
              <a:t>ci-cd-sample · 아키텍처 분석 보고서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5B6677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